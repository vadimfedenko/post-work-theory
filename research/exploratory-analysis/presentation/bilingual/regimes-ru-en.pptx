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3896829d7e4276" /><Relationship Type="http://schemas.openxmlformats.org/officeDocument/2006/relationships/extended-properties" Target="/docProps/app.xml" Id="Rd2dbdd7a43404a97" /><Relationship Type="http://schemas.openxmlformats.org/officeDocument/2006/relationships/officeDocument" Target="/ppt/presentation.xml" Id="R5ba0c6f7ab1d47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3cc29dad3745a1"/>
  </p:sldMasterIdLst>
  <p:notesMasterIdLst>
    <p:notesMasterId xmlns:r="http://schemas.openxmlformats.org/officeDocument/2006/relationships" r:id="Rbfdf06d4dc3b4f74"/>
  </p:notesMasterIdLst>
  <p:sldIdLst>
    <p:sldId xmlns:r="http://schemas.openxmlformats.org/officeDocument/2006/relationships" id="256" r:id="R9f3b5b3af91c4659"/>
    <p:sldId xmlns:r="http://schemas.openxmlformats.org/officeDocument/2006/relationships" id="257" r:id="Rcec470f8f12344f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9f0d9d47684915" /><Relationship Type="http://schemas.openxmlformats.org/officeDocument/2006/relationships/slideMaster" Target="/ppt/slideMasters/slideMaster1.xml" Id="Rc53cc29dad3745a1" /><Relationship Type="http://schemas.openxmlformats.org/officeDocument/2006/relationships/notesMaster" Target="/ppt/notesMasters/notesMaster1.xml" Id="Rbfdf06d4dc3b4f74" /><Relationship Type="http://schemas.openxmlformats.org/officeDocument/2006/relationships/presProps" Target="/ppt/presProps.xml" Id="Rccb68f43791043dc" /><Relationship Type="http://schemas.openxmlformats.org/officeDocument/2006/relationships/tableStyles" Target="/ppt/tableStyles.xml" Id="Rba5044de50f94e79" /><Relationship Type="http://schemas.openxmlformats.org/officeDocument/2006/relationships/slide" Target="/ppt/slides/slide1.xml" Id="R9f3b5b3af91c4659" /><Relationship Type="http://schemas.openxmlformats.org/officeDocument/2006/relationships/slide" Target="/ppt/slides/slide2.xml" Id="Rcec470f8f12344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4abe8c45d940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37b7e3cfca4a0e" /><Relationship Type="http://schemas.openxmlformats.org/officeDocument/2006/relationships/notesMaster" Target="/ppt/notesMasters/notesMaster1.xml" Id="Rd5f0d5ac8b5742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4c4723375d483c" /><Relationship Type="http://schemas.openxmlformats.org/officeDocument/2006/relationships/notesMaster" Target="/ppt/notesMasters/notesMaster1.xml" Id="R79f065d34e9140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data/societies.json, 890 обществ. Редакторские оценки на 22.10.2026.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Stage counts: zero_variant=345, transition=75, post_work=470. For the 345 original zero regimes only, use guarantees&lt;0 and control boundaries +/-1/3. Other records retain their editorial regime. Shares are within each stage; the three stages are separate cross-sectional samples, not a measured trajectory.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data/societies.json, 890 societies. Editorial assessments as of 22 Oct 2026.</a:t>
            </a:r>
          </a:p>
          <a:p xmlns:a="http://schemas.openxmlformats.org/drawingml/2006/main">
            <a:r>
              <a:t>Derived data: research/exploratory-analysis/transition-analysis.json</a:t>
            </a:r>
          </a:p>
          <a:p xmlns:a="http://schemas.openxmlformats.org/drawingml/2006/main">
            <a:r>
              <a:t>Stage counts: work-dependent 345, partial transition 75, post-work 470. The 345 original regime-0 societies receive a chart regime from guarantees &lt; 0 and control boundaries −1/3 and +1/3. Other records retain their editorial regime. Shares are within each stage. The three stages are cross-sectional groups, not a measured trajectory. Post-work means that work has ceased to be the principal channel of access to goods.</a:t>
            </a:r>
          </a:p>
          <a:p xmlns:a="http://schemas.openxmlformats.org/drawingml/2006/main">
            <a:r>
              <a:t>Regime counts, in category order 1 to 6: work-dependent [17,226,11,42,1,48], partial transition [11,29,12,10,5,8], post-work [115,80,116,11,89,59].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c132dbb3947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116aa9f1344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da71728dc42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73155df6542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aa9e125cc43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3b6594ad949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BB8E42-95C9-408A-B4EF-66EFD439DC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841423-866D-4787-A642-63C8F8C79E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996183-773C-4640-ABF7-E77286E73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451ED-0C70-47BF-BEBB-65B2515EE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95B2E6-7FDB-489D-AD35-3C24325DB8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BD111E-349B-40B3-A6AD-38DD60001D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699B08-217E-4119-9EEE-BB08A4E4ED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BCA672-D135-470B-8128-0F2BDB0C29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2B7410-DEAB-4B98-84F4-5D096CE72E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DAA458-2ADB-4A7D-9A65-3BB9504E58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48d0e4ac434823" /><Relationship Type="http://schemas.openxmlformats.org/officeDocument/2006/relationships/slideLayout" Target="/ppt/slideLayouts/slideLayout1.xml" Id="R13d64d0331444b77" /><Relationship Type="http://schemas.openxmlformats.org/officeDocument/2006/relationships/slideLayout" Target="/ppt/slideLayouts/slideLayout2.xml" Id="R00278d557ed54642" /><Relationship Type="http://schemas.openxmlformats.org/officeDocument/2006/relationships/slideLayout" Target="/ppt/slideLayouts/slideLayout3.xml" Id="R1f274e72cbbb4d77" /><Relationship Type="http://schemas.openxmlformats.org/officeDocument/2006/relationships/slideLayout" Target="/ppt/slideLayouts/slideLayout4.xml" Id="R257a427936f84297" /><Relationship Type="http://schemas.openxmlformats.org/officeDocument/2006/relationships/slideLayout" Target="/ppt/slideLayouts/slideLayout5.xml" Id="R7d3c0916caba4959" /><Relationship Type="http://schemas.openxmlformats.org/officeDocument/2006/relationships/slideLayout" Target="/ppt/slideLayouts/slideLayout6.xml" Id="R5516651e1d4947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d64d0331444b77"/>
    <p:sldLayoutId xmlns:r="http://schemas.openxmlformats.org/officeDocument/2006/relationships" id="2147483650" r:id="R00278d557ed54642"/>
    <p:sldLayoutId xmlns:r="http://schemas.openxmlformats.org/officeDocument/2006/relationships" id="2147483651" r:id="R1f274e72cbbb4d77"/>
    <p:sldLayoutId xmlns:r="http://schemas.openxmlformats.org/officeDocument/2006/relationships" id="2147483652" r:id="R257a427936f84297"/>
    <p:sldLayoutId xmlns:r="http://schemas.openxmlformats.org/officeDocument/2006/relationships" id="2147483653" r:id="R7d3c0916caba4959"/>
    <p:sldLayoutId xmlns:r="http://schemas.openxmlformats.org/officeDocument/2006/relationships" id="2147483654" r:id="R5516651e1d4947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1ede35a482484c" /><Relationship Type="http://schemas.openxmlformats.org/officeDocument/2006/relationships/chart" Target="/ppt/slides/charts/chart1.xml" Id="Rd958b578684247dc" /><Relationship Type="http://schemas.openxmlformats.org/officeDocument/2006/relationships/chart" Target="/ppt/slides/charts/chart2.xml" Id="R5422138bfe3c4a5c" /><Relationship Type="http://schemas.openxmlformats.org/officeDocument/2006/relationships/chart" Target="/ppt/slides/charts/chart3.xml" Id="R8c354406f1d240a9" /><Relationship Type="http://schemas.openxmlformats.org/officeDocument/2006/relationships/notesSlide" Target="/ppt/notesSlides/notesSlide1.xml" Id="Rd356fe389d2a44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9fad3a4d242f1" /><Relationship Type="http://schemas.openxmlformats.org/officeDocument/2006/relationships/chart" Target="/ppt/slides/charts/chart4.xml" Id="Re9bf7b28467a4bb6" /><Relationship Type="http://schemas.openxmlformats.org/officeDocument/2006/relationships/chart" Target="/ppt/slides/charts/chart5.xml" Id="R26cf32bbedd84455" /><Relationship Type="http://schemas.openxmlformats.org/officeDocument/2006/relationships/chart" Target="/ppt/slides/charts/chart6.xml" Id="R276324bce07d4516" /><Relationship Type="http://schemas.openxmlformats.org/officeDocument/2006/relationships/notesSlide" Target="/ppt/notesSlides/notesSlide2.xml" Id="R04ac75d9da6044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Трудовые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Ref>
              <c:f>'Chart Data'!$A$2:$A$7</c:f>
              <c:strCache>
                <c:ptCount val="6"/>
                <c:pt idx="0">
                  <c:v>1  Элиты с гарантиями</c:v>
                </c:pt>
                <c:pt idx="1">
                  <c:v>2  Элиты без гарантий</c:v>
                </c:pt>
                <c:pt idx="2">
                  <c:v>3  Распределённая власть с гарантиями</c:v>
                </c:pt>
                <c:pt idx="3">
                  <c:v>4  Распределённые активы без гарантий</c:v>
                </c:pt>
                <c:pt idx="4">
                  <c:v>5  Автономная система с гарантиями</c:v>
                </c:pt>
                <c:pt idx="5">
                  <c:v>6  Автономная система без гарантий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17</c:v>
                </c:pt>
                <c:pt idx="1">
                  <c:v>226</c:v>
                </c:pt>
                <c:pt idx="2">
                  <c:v>11</c:v>
                </c:pt>
                <c:pt idx="3">
                  <c:v>42</c:v>
                </c:pt>
                <c:pt idx="4">
                  <c:v>1</c:v>
                </c:pt>
                <c:pt idx="5">
                  <c:v>48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Частичный переход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Ref>
              <c:f>'Chart Data'!$A$2:$A$7</c:f>
              <c:strCache>
                <c:ptCount val="6"/>
                <c:pt idx="0">
                  <c:v>1  Элиты с гарантиями</c:v>
                </c:pt>
                <c:pt idx="1">
                  <c:v>2  Элиты без гарантий</c:v>
                </c:pt>
                <c:pt idx="2">
                  <c:v>3  Распределённая власть с гарантиями</c:v>
                </c:pt>
                <c:pt idx="3">
                  <c:v>4  Распределённые активы без гарантий</c:v>
                </c:pt>
                <c:pt idx="4">
                  <c:v>5  Автономная система с гарантиями</c:v>
                </c:pt>
                <c:pt idx="5">
                  <c:v>6  Автономная система без гарантий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11</c:v>
                </c:pt>
                <c:pt idx="1">
                  <c:v>29</c:v>
                </c:pt>
                <c:pt idx="2">
                  <c:v>12</c:v>
                </c:pt>
                <c:pt idx="3">
                  <c:v>10</c:v>
                </c:pt>
                <c:pt idx="4">
                  <c:v>5</c:v>
                </c:pt>
                <c:pt idx="5">
                  <c:v>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Посттрудовые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Ref>
              <c:f>'Chart Data'!$A$2:$A$7</c:f>
              <c:strCache>
                <c:ptCount val="6"/>
                <c:pt idx="0">
                  <c:v>1  Элиты с гарантиями</c:v>
                </c:pt>
                <c:pt idx="1">
                  <c:v>2  Элиты без гарантий</c:v>
                </c:pt>
                <c:pt idx="2">
                  <c:v>3  Распределённая власть с гарантиями</c:v>
                </c:pt>
                <c:pt idx="3">
                  <c:v>4  Распределённые активы без гарантий</c:v>
                </c:pt>
                <c:pt idx="4">
                  <c:v>5  Автономная система с гарантиями</c:v>
                </c:pt>
                <c:pt idx="5">
                  <c:v>6  Автономная система без гарантий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115</c:v>
                </c:pt>
                <c:pt idx="1">
                  <c:v>80</c:v>
                </c:pt>
                <c:pt idx="2">
                  <c:v>116</c:v>
                </c:pt>
                <c:pt idx="3">
                  <c:v>11</c:v>
                </c:pt>
                <c:pt idx="4">
                  <c:v>89</c:v>
                </c:pt>
                <c:pt idx="5">
                  <c:v>59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Work-dependent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Ref>
              <c:f>'Chart Data'!$A$2:$A$7</c:f>
              <c:strCache>
                <c:ptCount val="6"/>
                <c:pt idx="0">
                  <c:v>1  Elite control with guarantees</c:v>
                </c:pt>
                <c:pt idx="1">
                  <c:v>2  Elite control without guarantees</c:v>
                </c:pt>
                <c:pt idx="2">
                  <c:v>3  Distributed control with guarantees</c:v>
                </c:pt>
                <c:pt idx="3">
                  <c:v>4  Distributed assets without guarantees</c:v>
                </c:pt>
                <c:pt idx="4">
                  <c:v>5  Autonomous system with guarantees</c:v>
                </c:pt>
                <c:pt idx="5">
                  <c:v>6  Autonomous system without guarantees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17</c:v>
                </c:pt>
                <c:pt idx="1">
                  <c:v>226</c:v>
                </c:pt>
                <c:pt idx="2">
                  <c:v>11</c:v>
                </c:pt>
                <c:pt idx="3">
                  <c:v>42</c:v>
                </c:pt>
                <c:pt idx="4">
                  <c:v>1</c:v>
                </c:pt>
                <c:pt idx="5">
                  <c:v>48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Partial transition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Ref>
              <c:f>'Chart Data'!$A$2:$A$7</c:f>
              <c:strCache>
                <c:ptCount val="6"/>
                <c:pt idx="0">
                  <c:v>1  Elite control with guarantees</c:v>
                </c:pt>
                <c:pt idx="1">
                  <c:v>2  Elite control without guarantees</c:v>
                </c:pt>
                <c:pt idx="2">
                  <c:v>3  Distributed control with guarantees</c:v>
                </c:pt>
                <c:pt idx="3">
                  <c:v>4  Distributed assets without guarantees</c:v>
                </c:pt>
                <c:pt idx="4">
                  <c:v>5  Autonomous system with guarantees</c:v>
                </c:pt>
                <c:pt idx="5">
                  <c:v>6  Autonomous system without guarantees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11</c:v>
                </c:pt>
                <c:pt idx="1">
                  <c:v>29</c:v>
                </c:pt>
                <c:pt idx="2">
                  <c:v>12</c:v>
                </c:pt>
                <c:pt idx="3">
                  <c:v>10</c:v>
                </c:pt>
                <c:pt idx="4">
                  <c:v>5</c:v>
                </c:pt>
                <c:pt idx="5">
                  <c:v>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Post-work</c:v>
          </c:tx>
          <c:dPt>
            <c:idx val="0"/>
            <c:spPr>
              <a:solidFill xmlns:a="http://schemas.openxmlformats.org/drawingml/2006/main">
                <a:srgbClr val="D69C46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AD654D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277F7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5C9D8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4"/>
            <c:spPr>
              <a:solidFill xmlns:a="http://schemas.openxmlformats.org/drawingml/2006/main">
                <a:srgbClr val="6874B5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Pt>
            <c:idx val="5"/>
            <c:spPr>
              <a:solidFill xmlns:a="http://schemas.openxmlformats.org/drawingml/2006/main">
                <a:srgbClr val="9C5D91"/>
              </a:solidFill>
              <a:ln xmlns:a="http://schemas.openxmlformats.org/drawingml/2006/main" w="14288">
                <a:solidFill>
                  <a:srgbClr val="FFFFFF"/>
                </a:solidFill>
                <a:prstDash val="solid"/>
              </a:ln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223A40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showVal val="0"/>
              <c:showCatName val="0"/>
              <c:showPercent val="1"/>
            </c:dLbl>
          </c:dLbls>
          <c:cat>
            <c:strRef>
              <c:f>'Chart Data'!$A$2:$A$7</c:f>
              <c:strCache>
                <c:ptCount val="6"/>
                <c:pt idx="0">
                  <c:v>1  Elite control with guarantees</c:v>
                </c:pt>
                <c:pt idx="1">
                  <c:v>2  Elite control without guarantees</c:v>
                </c:pt>
                <c:pt idx="2">
                  <c:v>3  Distributed control with guarantees</c:v>
                </c:pt>
                <c:pt idx="3">
                  <c:v>4  Distributed assets without guarantees</c:v>
                </c:pt>
                <c:pt idx="4">
                  <c:v>5  Autonomous system with guarantees</c:v>
                </c:pt>
                <c:pt idx="5">
                  <c:v>6  Autonomous system without guarantees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115</c:v>
                </c:pt>
                <c:pt idx="1">
                  <c:v>80</c:v>
                </c:pt>
                <c:pt idx="2">
                  <c:v>116</c:v>
                </c:pt>
                <c:pt idx="3">
                  <c:v>11</c:v>
                </c:pt>
                <c:pt idx="4">
                  <c:v>89</c:v>
                </c:pt>
                <c:pt idx="5">
                  <c:v>59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</c:pieChart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0B178-B890-403F-A4FD-6CC78348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Уклады на трёх стадиях перехода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9D985-C908-4D4A-BA4E-5C3BA700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Стадия описывает роль труда в распределении благ. Цвет показывает устройство общества.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AD129-EE7B-4321-A51F-8E2A774A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Источник: data/societies.json, 890 обществ. Редакторские оценки на 22.10.2026.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65375-19AD-486D-8564-6E4D06F2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830B-FEE2-40F4-9FAD-C322146D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B8896"/>
                </a:solidFill>
                <a:latin typeface="Arial"/>
                <a:ea typeface="Arial"/>
                <a:cs typeface="Arial"/>
              </a:rPr>
              <a:t>Трудовые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5BC66-8BEF-4D31-A99D-1D7DCD5A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345 обществ, 38,8% базы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288242C7-A821-4E7A-8ABE-615EE3002D4F}"/>
              </a:ext>
            </a:extLst>
          </p:cNvPr>
          <p:cNvGraphicFramePr/>
          <p:nvPr/>
        </p:nvGraphicFramePr>
        <p:xfrm>
          <a:off xmlns:a="http://schemas.openxmlformats.org/drawingml/2006/main" x="61912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58b578684247d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00C51-09D5-45BB-8333-252F9AA3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Частичный переход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0AB27-B441-47EB-A4CE-F92BC701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75 обществ, 8,4% базы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17912EBB-454B-4BD0-BEDE-CDC9D5810EA3}"/>
              </a:ext>
            </a:extLst>
          </p:cNvPr>
          <p:cNvGraphicFramePr/>
          <p:nvPr/>
        </p:nvGraphicFramePr>
        <p:xfrm>
          <a:off xmlns:a="http://schemas.openxmlformats.org/drawingml/2006/main" x="547687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22138bfe3c4a5c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9D00B-BBE7-44B9-802A-8BFB0232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Посттрудовые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9135D-74DC-4463-B9FF-E9E8E2D6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470 обществ, 52,8% базы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4185311E-86FB-4A91-A155-32EC357BBC3A}"/>
              </a:ext>
            </a:extLst>
          </p:cNvPr>
          <p:cNvGraphicFramePr/>
          <p:nvPr/>
        </p:nvGraphicFramePr>
        <p:xfrm>
          <a:off xmlns:a="http://schemas.openxmlformats.org/drawingml/2006/main" x="1033462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354406f1d240a9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6C9E2-8355-482B-9AA2-76C3B7EE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38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1  Элиты с гарантиями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69C54-58A7-4946-999B-304571C4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638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D654D"/>
                </a:solidFill>
                <a:latin typeface="Arial"/>
                <a:ea typeface="Arial"/>
                <a:cs typeface="Arial"/>
              </a:rPr>
              <a:t>2  Элиты без гарантий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7A53E-9D40-4636-89FF-92C64C04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9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3  Распределённая власть с гарантиями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99F88-D075-4BFE-989A-02ED6D15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019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C9D85"/>
                </a:solidFill>
                <a:latin typeface="Arial"/>
                <a:ea typeface="Arial"/>
                <a:cs typeface="Arial"/>
              </a:rPr>
              <a:t>4  Распределённые активы без гарантий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12DAB-13A8-407C-8036-BC1FA880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0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874B5"/>
                </a:solidFill>
                <a:latin typeface="Arial"/>
                <a:ea typeface="Arial"/>
                <a:cs typeface="Arial"/>
              </a:rPr>
              <a:t>5  Автономная система с гарантиями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8E5EE-1BDC-4477-AE3B-D5927EC5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00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C5D91"/>
                </a:solidFill>
                <a:latin typeface="Arial"/>
                <a:ea typeface="Arial"/>
                <a:cs typeface="Arial"/>
              </a:rPr>
              <a:t>6  Автономная система без гарантий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A56B2-46EF-4F3A-9289-F9F1A04A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762875"/>
            <a:ext cx="1400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У трудовых обществ уклад задан координатами. Границы: гарантии 0, контроль −⅓ и +⅓.</a:t>
            </a:r>
          </a:p>
        </p:txBody>
      </p:sp>
    </p:spTree>
    <p:extLst>
      <p:ext uri="{BB962C8B-B14F-4D97-AF65-F5344CB8AC3E}">
        <p14:creationId xmlns:p14="http://schemas.microsoft.com/office/powerpoint/2010/main" val="6975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261D1-5192-4633-A1FD-51AF3AFF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23A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3A40"/>
                </a:solidFill>
                <a:latin typeface="Arial"/>
                <a:ea typeface="Arial"/>
                <a:cs typeface="Arial"/>
              </a:rPr>
              <a:t>Regimes across three transition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A40C4-C659-4D53-9474-42A6194C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400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Stage describes the role of work in access to goods. Colour shows how society is organised.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6AA6A-9844-4102-BB68-2ED6E5F6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05775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Source: data/societies.json, 890 societies. Editorial assessments as of 22 Oct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791C8-09C2-42CD-BD9F-A506A787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8096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36485-ACA8-4A9A-88CD-3E779D21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7B889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B8896"/>
                </a:solidFill>
                <a:latin typeface="Arial"/>
                <a:ea typeface="Arial"/>
                <a:cs typeface="Arial"/>
              </a:rPr>
              <a:t>Work-dependent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076D8-0E54-4699-833F-084C3043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345 societies, 38.8% of total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82665C1-1468-43F7-BC56-F9980F859838}"/>
              </a:ext>
            </a:extLst>
          </p:cNvPr>
          <p:cNvGraphicFramePr/>
          <p:nvPr/>
        </p:nvGraphicFramePr>
        <p:xfrm>
          <a:off xmlns:a="http://schemas.openxmlformats.org/drawingml/2006/main" x="61912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bf7b28467a4bb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53632-5D2E-497E-A760-A262EF03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Partial transition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6669D-98CF-4B9E-A035-05BE2696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75 societies, 8.4% of total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C896BCC2-49BF-4D82-B000-CB7EB3C22742}"/>
              </a:ext>
            </a:extLst>
          </p:cNvPr>
          <p:cNvGraphicFramePr/>
          <p:nvPr/>
        </p:nvGraphicFramePr>
        <p:xfrm>
          <a:off xmlns:a="http://schemas.openxmlformats.org/drawingml/2006/main" x="547687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cf32bbedd84455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0D943-3328-476A-8B36-0603FD93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05000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Post-work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AA34D-6323-4C04-9BEE-90724AB4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431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470 societies, 52.8% of total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DB993656-F440-4A13-AD10-A515EB5E5632}"/>
              </a:ext>
            </a:extLst>
          </p:cNvPr>
          <p:cNvGraphicFramePr/>
          <p:nvPr/>
        </p:nvGraphicFramePr>
        <p:xfrm>
          <a:off xmlns:a="http://schemas.openxmlformats.org/drawingml/2006/main" x="10334625" y="2800350"/>
          <a:ext xmlns:a="http://schemas.openxmlformats.org/drawingml/2006/main" cx="4381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6324bce07d4516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F1BE5-40C4-40A4-9DBB-A0A7BE43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38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D69C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9C46"/>
                </a:solidFill>
                <a:latin typeface="Arial"/>
                <a:ea typeface="Arial"/>
                <a:cs typeface="Arial"/>
              </a:rPr>
              <a:t>1  Elite control with guarantees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51C24-0187-436D-A288-BDE6C3D3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638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D6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D654D"/>
                </a:solidFill>
                <a:latin typeface="Arial"/>
                <a:ea typeface="Arial"/>
                <a:cs typeface="Arial"/>
              </a:rPr>
              <a:t>2  Elite control without guarantees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1E1A3-3A79-43BA-9732-A0242954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9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77F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75"/>
                </a:solidFill>
                <a:latin typeface="Arial"/>
                <a:ea typeface="Arial"/>
                <a:cs typeface="Arial"/>
              </a:rPr>
              <a:t>3  Distributed control with guarantees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65C55-4E84-4E88-B71F-6C86751F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019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C9D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C9D85"/>
                </a:solidFill>
                <a:latin typeface="Arial"/>
                <a:ea typeface="Arial"/>
                <a:cs typeface="Arial"/>
              </a:rPr>
              <a:t>4  Distributed assets without guarantees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1F1A4-5EC0-4246-9FFF-7D96FC35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0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74B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874B5"/>
                </a:solidFill>
                <a:latin typeface="Arial"/>
                <a:ea typeface="Arial"/>
                <a:cs typeface="Arial"/>
              </a:rPr>
              <a:t>5  Autonomous system with guarantees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5FF08-C717-4DBB-8EAC-C8AE9A78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00925"/>
            <a:ext cx="700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9C5D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C5D91"/>
                </a:solidFill>
                <a:latin typeface="Arial"/>
                <a:ea typeface="Arial"/>
                <a:cs typeface="Arial"/>
              </a:rPr>
              <a:t>6  Autonomous system without guarantees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45FC31-2529-4EB9-82D2-BA783745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762875"/>
            <a:ext cx="1400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7A"/>
                </a:solidFill>
                <a:latin typeface="Arial"/>
                <a:ea typeface="Arial"/>
                <a:cs typeface="Arial"/>
              </a:rPr>
              <a:t>Coordinates assign regimes to work-dependent societies. Boundaries: guarantees 0, control −⅓ and +⅓.</a:t>
            </a:r>
          </a:p>
        </p:txBody>
      </p:sp>
    </p:spTree>
    <p:extLst>
      <p:ext uri="{BB962C8B-B14F-4D97-AF65-F5344CB8AC3E}">
        <p14:creationId xmlns:p14="http://schemas.microsoft.com/office/powerpoint/2010/main" val="455217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2026-10-23T03:17:35.9550000Z</dcterms:created>
  <dcterms:modified xsi:type="dcterms:W3CDTF">2026-10-23T03:17:35.9550000Z</dcterms:modified>
</coreProperties>
</file>