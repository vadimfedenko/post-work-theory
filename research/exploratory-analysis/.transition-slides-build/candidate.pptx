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8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9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1.xml" ContentType="application/vnd.openxmlformats-officedocument.drawingml.chart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03fd70ff64048" /><Relationship Type="http://schemas.openxmlformats.org/officeDocument/2006/relationships/extended-properties" Target="/docProps/app.xml" Id="R21094d9135e44af8" /><Relationship Type="http://schemas.openxmlformats.org/officeDocument/2006/relationships/officeDocument" Target="/ppt/presentation.xml" Id="R6a94f8879dfe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e57d06143c40c3"/>
  </p:sldMasterIdLst>
  <p:notesMasterIdLst>
    <p:notesMasterId xmlns:r="http://schemas.openxmlformats.org/officeDocument/2006/relationships" r:id="R64adc1c1e7fb4df8"/>
  </p:notesMasterIdLst>
  <p:sldIdLst>
    <p:sldId xmlns:r="http://schemas.openxmlformats.org/officeDocument/2006/relationships" id="256" r:id="R2946416fbce14073"/>
    <p:sldId xmlns:r="http://schemas.openxmlformats.org/officeDocument/2006/relationships" id="257" r:id="R04bbaf3c3c8d4a6e"/>
    <p:sldId xmlns:r="http://schemas.openxmlformats.org/officeDocument/2006/relationships" id="258" r:id="R9330b10c6b9f42d0"/>
    <p:sldId xmlns:r="http://schemas.openxmlformats.org/officeDocument/2006/relationships" id="259" r:id="Rc3598708a035468f"/>
    <p:sldId xmlns:r="http://schemas.openxmlformats.org/officeDocument/2006/relationships" id="260" r:id="R419e5c7e75884ee0"/>
    <p:sldId xmlns:r="http://schemas.openxmlformats.org/officeDocument/2006/relationships" id="261" r:id="R593dbda9863d41a6"/>
    <p:sldId xmlns:r="http://schemas.openxmlformats.org/officeDocument/2006/relationships" id="262" r:id="R06faab410db54d12"/>
    <p:sldId xmlns:r="http://schemas.openxmlformats.org/officeDocument/2006/relationships" id="263" r:id="R5d53124756b844f6"/>
    <p:sldId xmlns:r="http://schemas.openxmlformats.org/officeDocument/2006/relationships" id="264" r:id="R3cdbc25f0cd0435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50f76f954847d5" /><Relationship Type="http://schemas.openxmlformats.org/officeDocument/2006/relationships/slideMaster" Target="/ppt/slideMasters/slideMaster1.xml" Id="R17e57d06143c40c3" /><Relationship Type="http://schemas.openxmlformats.org/officeDocument/2006/relationships/notesMaster" Target="/ppt/notesMasters/notesMaster1.xml" Id="R64adc1c1e7fb4df8" /><Relationship Type="http://schemas.openxmlformats.org/officeDocument/2006/relationships/presProps" Target="/ppt/presProps.xml" Id="R662ef0b5092b4ca3" /><Relationship Type="http://schemas.openxmlformats.org/officeDocument/2006/relationships/tableStyles" Target="/ppt/tableStyles.xml" Id="R5ea05c299db143e3" /><Relationship Type="http://schemas.openxmlformats.org/officeDocument/2006/relationships/slide" Target="/ppt/slides/slide1.xml" Id="R2946416fbce14073" /><Relationship Type="http://schemas.openxmlformats.org/officeDocument/2006/relationships/slide" Target="/ppt/slides/slide2.xml" Id="R04bbaf3c3c8d4a6e" /><Relationship Type="http://schemas.openxmlformats.org/officeDocument/2006/relationships/slide" Target="/ppt/slides/slide3.xml" Id="R9330b10c6b9f42d0" /><Relationship Type="http://schemas.openxmlformats.org/officeDocument/2006/relationships/slide" Target="/ppt/slides/slide4.xml" Id="Rc3598708a035468f" /><Relationship Type="http://schemas.openxmlformats.org/officeDocument/2006/relationships/slide" Target="/ppt/slides/slide5.xml" Id="R419e5c7e75884ee0" /><Relationship Type="http://schemas.openxmlformats.org/officeDocument/2006/relationships/slide" Target="/ppt/slides/slide6.xml" Id="R593dbda9863d41a6" /><Relationship Type="http://schemas.openxmlformats.org/officeDocument/2006/relationships/slide" Target="/ppt/slides/slide7.xml" Id="R06faab410db54d12" /><Relationship Type="http://schemas.openxmlformats.org/officeDocument/2006/relationships/slide" Target="/ppt/slides/slide8.xml" Id="R5d53124756b844f6" /><Relationship Type="http://schemas.openxmlformats.org/officeDocument/2006/relationships/slide" Target="/ppt/slides/slide9.xml" Id="R3cdbc25f0cd043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2bf43194f6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20c9c7d7744fcd" /><Relationship Type="http://schemas.openxmlformats.org/officeDocument/2006/relationships/notesMaster" Target="/ppt/notesMasters/notesMaster1.xml" Id="R10f4cc1a7567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a591af69d24638" /><Relationship Type="http://schemas.openxmlformats.org/officeDocument/2006/relationships/notesMaster" Target="/ppt/notesMasters/notesMaster1.xml" Id="R924aae41903e4f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1e5a1890c4a71" /><Relationship Type="http://schemas.openxmlformats.org/officeDocument/2006/relationships/notesMaster" Target="/ppt/notesMasters/notesMaster1.xml" Id="R27ce9689830a4b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7f11e40c9541ba" /><Relationship Type="http://schemas.openxmlformats.org/officeDocument/2006/relationships/notesMaster" Target="/ppt/notesMasters/notesMaster1.xml" Id="R5301584fcc3d40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239839eb4545d6" /><Relationship Type="http://schemas.openxmlformats.org/officeDocument/2006/relationships/notesMaster" Target="/ppt/notesMasters/notesMaster1.xml" Id="R2319ba90741e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496b209647498d" /><Relationship Type="http://schemas.openxmlformats.org/officeDocument/2006/relationships/notesMaster" Target="/ppt/notesMasters/notesMaster1.xml" Id="R0f385d1a3b1e47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0bcdd8d2841cd" /><Relationship Type="http://schemas.openxmlformats.org/officeDocument/2006/relationships/notesMaster" Target="/ppt/notesMasters/notesMaster1.xml" Id="Rf63a9fb4706c4c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9757356425458a" /><Relationship Type="http://schemas.openxmlformats.org/officeDocument/2006/relationships/notesMaster" Target="/ppt/notesMasters/notesMaster1.xml" Id="R8d0fd1ce1c394c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66bab8a8804a34" /><Relationship Type="http://schemas.openxmlformats.org/officeDocument/2006/relationships/notesMaster" Target="/ppt/notesMasters/notesMaster1.xml" Id="R29b2174f15d5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Stage counts: zero_variant=345, transition=75, post_work=470. For the 345 original zero regimes only, use guarantees&lt;0 and control boundaries +/-1/3. Other records retain their editorial regime. Shares are within each stage; the three stages are separate cross-sectional samples, not a measured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Strong dystopia U&lt;=-0.5, strong utopia U&gt;=0.5, central band -0.5&lt;U&lt;0.5. Post-work vs partial differences remain after medium controls and equal recognition-group weighting: strong utopia +13.2 percentage points (q&lt;0.001), strong dystopia +12.4 points (q&lt;0.05). Thresholds are descriptive editorial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Guarantees here use the same sign rule for all stages: axis.guarantees&lt;0. Cells: zero no 316 U=-.506, yes 29 U=.055; partial no49 U=-.242, yes26 U=.112; full no155 U=-.642, yes315 U=.145. This is observational composition, not a causal transition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Mean working share equals 1-axis.nonworking. Of 470 full-transition records, 341 have nonworking&lt;=.5, so at least half the scoped population works. 11 have nonworking&gt;=.95. Participation values are low-confidence editorial scenarios, not labour-market surveys.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Source transition-media-counts.csv. Web fiction has 29 rows but only 6 recognition groups; 23 of 29 belong to Orion’s Arm. This is a selected catalogue, not all fiction. Manga has only 18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Recognition groups approximate works/franchises, not a universal universe ontology. Positive group differences:60, negative23, tie1. Average equally weighted paired difference .358987, group bootstrap 5000 draws 95% [.2303,.4845]. Distinct societies can differ in population and chronology; these pairs are not randomized policy transitions.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WLS results from transition-analysis.json, models utopia_raw, utopia_media_adjusted, utopia_structural_adjusted. CIs are unadjusted 95% CR1 cluster intervals. Structural controls: security, control, control squared, nonworking, popularity, multi-label media. These include potential mediators and shared rating criteria, so coefficients are not causal transition effects. Within-group structural full transition coefficient -.091, CI[-.182,.001]. Saved axis intervals are wide and can alter these conditional coefficients.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Group-balanced popularity: .47838, .50385, .46735. Group scores repeat across their societies; the values are not audience percentages. WLS with medium controls: partial-zero .004[-.049,.057], full-zero .014[-.017,.044]; q&gt;.45. Overall group significance does not establish historical popularity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ID starwars-narkina5-cheap-labor-zero; status=zero_variant; U=-0.95; scope={"continuity":"Andor, first-season prison arc","period":"The functioning prison before the mass escape","population":"Living adult human prisoners","human_population_proxy":false,"exclusions":["Free Imperial citizens","Dead inmates as nonworkers","A whole-planet civilian economy"],"branch":null,"player_configurable":false}; rationale=Coerced or subordinated sentient workers bear the costs of the system; productive sophistication does not offset their loss of agency.</a:t>
            </a:r>
          </a:p>
          <a:p xmlns:a="http://schemas.openxmlformats.org/drawingml/2006/main">
            <a:r>
              <a:t>ID aria-aqua-terraformed-work-zero; status=zero_variant; U=0.75; scope={"continuity":"Shared terraforming and work premise only","period":"The recurring inhabited Aqua economy","population":"Living human Aqua residents","human_population_proxy":false,"exclusions":"Robot-supported general provision is not verified; the discovery claim is narrowed to technical habitat capacity.","branch":null,"player_configurable":false}; rationale=Shared provision, cooperation and meaningful human or person agency support a favorable assessment; useful work is not itself a disadvantage.</a:t>
            </a:r>
          </a:p>
          <a:p xmlns:a="http://schemas.openxmlformats.org/drawingml/2006/main">
            <a:r>
              <a:t>ID colossus-initial-machine-rule-zero; status=transition; U=-0.9; scope={"continuity":"1970 film, excluding novel sequels","period":"The implemented initial global machine-control order at the ending","population":"Living human population under Colossus–Guardian authority","human_population_proxy":false,"exclusions":["Novel sequels","An achieved universal floor inferred from a promise"],"branch":null,"player_configurable":false}; rationale=Restricted agency, enforced conformity or unaccountable control materially qualify or outweigh the benefits of technological provision.</a:t>
            </a:r>
          </a:p>
          <a:p xmlns:a="http://schemas.openxmlformats.org/drawingml/2006/main">
            <a:r>
              <a:t>ID transformers-one-restored-energon; status=transition; U=0.55; scope={"continuity":"2024 animated film ending","period":"The realized restoration and explicitly projected early reconstruction","population":"Active Cybertronian synthetic residents of Iacon","human_population_proxy":true,"exclusions":["An eternal peaceful future","Aligned-family prewar Cybertron"],"branch":null,"player_configurable":false,"person_proxy_kind":"active_synthetic_persons"}; rationale=A realized reform or explicitly selected projected alternative offers improvement, qualified by incomplete implementation and continuing uncertainty.</a:t>
            </a:r>
          </a:p>
          <a:p xmlns:a="http://schemas.openxmlformats.org/drawingml/2006/main">
            <a:r>
              <a:t>ID matrix-pod-humanity; status=post_work; U=-0.95; scope={"continuity":"The 1999 Matrix film continuity","period":"The operating pod system and late-twentieth-century simulation depicted in the first film","population":"Living human minds and bodies in machine-maintained pods","human_population_proxy":false,"exclusions":["Zion and freed crews","Dead bodies recycled as feed","Programs counted as humans","Later Analyst system or a liberated ending"],"branch":null,"player_configurable":false}; rationale=Physical maintenance sustains captives used by a controlling system; simulation does not offset denied consent, exit and bodily agency.</a:t>
            </a:r>
          </a:p>
          <a:p xmlns:a="http://schemas.openxmlformats.org/drawingml/2006/main">
            <a:r>
              <a:t>ID culture-main; status=post_work; U=0.9; scope={"continuity":"Iain M. Banks's prose Culture universe","period":"The mature Culture; ordinary civilian life rather than a wartime emergency","population":"Biological humanlike citizens, with AI citizens included in the account of governance","human_population_proxy":true,"exclusions":["Neighboring civilizations","People governed by Culture interventions outside the Culture"],"branch":null,"player_configurable":false}; rationale=Secure necessities, elective vocations and broad civic agency make ordinary Culture life strongly favorable; independent Minds and external interventions qualify perfection.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0c6d41eb742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47457f69f4c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83ee0b1d94b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ef92e854949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fb9ab8f4e4f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aa81098cf44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8C5169-524A-4413-91A9-50D43FE3B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1CC179-0945-4D92-BE6A-FF0329B128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82DD11-3F23-481B-8D47-143903DEE2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837F5E-C191-4974-B3C9-7FE2A3409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810E7B-D268-43B1-A9AC-8803B1E2C1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CF09C5-8B21-41BB-86C1-21D67889C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DA2107-34AB-4DBA-9835-4514956206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39134B-6425-47C4-91A4-DFB74FEAF3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D55500-0EFC-48F1-930C-AB038CE3C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A0A7F3-BD99-4895-B8D5-A797D1EDF6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4a46fbda7400e" /><Relationship Type="http://schemas.openxmlformats.org/officeDocument/2006/relationships/slideLayout" Target="/ppt/slideLayouts/slideLayout1.xml" Id="Rc80f795ae4934070" /><Relationship Type="http://schemas.openxmlformats.org/officeDocument/2006/relationships/slideLayout" Target="/ppt/slideLayouts/slideLayout2.xml" Id="R82ea5a3c53724769" /><Relationship Type="http://schemas.openxmlformats.org/officeDocument/2006/relationships/slideLayout" Target="/ppt/slideLayouts/slideLayout3.xml" Id="Rf921150cbb064bf3" /><Relationship Type="http://schemas.openxmlformats.org/officeDocument/2006/relationships/slideLayout" Target="/ppt/slideLayouts/slideLayout4.xml" Id="R86c6ca2b059742fc" /><Relationship Type="http://schemas.openxmlformats.org/officeDocument/2006/relationships/slideLayout" Target="/ppt/slideLayouts/slideLayout5.xml" Id="Raeb605b68c12490e" /><Relationship Type="http://schemas.openxmlformats.org/officeDocument/2006/relationships/slideLayout" Target="/ppt/slideLayouts/slideLayout6.xml" Id="Rd7f3a0f21fe04b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f795ae4934070"/>
    <p:sldLayoutId xmlns:r="http://schemas.openxmlformats.org/officeDocument/2006/relationships" id="2147483650" r:id="R82ea5a3c53724769"/>
    <p:sldLayoutId xmlns:r="http://schemas.openxmlformats.org/officeDocument/2006/relationships" id="2147483651" r:id="Rf921150cbb064bf3"/>
    <p:sldLayoutId xmlns:r="http://schemas.openxmlformats.org/officeDocument/2006/relationships" id="2147483652" r:id="R86c6ca2b059742fc"/>
    <p:sldLayoutId xmlns:r="http://schemas.openxmlformats.org/officeDocument/2006/relationships" id="2147483653" r:id="Raeb605b68c12490e"/>
    <p:sldLayoutId xmlns:r="http://schemas.openxmlformats.org/officeDocument/2006/relationships" id="2147483654" r:id="Rd7f3a0f21fe04b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cda1410a4470d" /><Relationship Type="http://schemas.openxmlformats.org/officeDocument/2006/relationships/chart" Target="/ppt/slides/charts/chart1.xml" Id="R53ee18c04f42429e" /><Relationship Type="http://schemas.openxmlformats.org/officeDocument/2006/relationships/chart" Target="/ppt/slides/charts/chart2.xml" Id="R50c6d2c7c5f04944" /><Relationship Type="http://schemas.openxmlformats.org/officeDocument/2006/relationships/chart" Target="/ppt/slides/charts/chart3.xml" Id="R462374b43a024da4" /><Relationship Type="http://schemas.openxmlformats.org/officeDocument/2006/relationships/notesSlide" Target="/ppt/notesSlides/notesSlide1.xml" Id="Re84cdfa6397e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85e5e9be24130" /><Relationship Type="http://schemas.openxmlformats.org/officeDocument/2006/relationships/chart" Target="/ppt/slides/charts/chart4.xml" Id="Rbe93f7c5763748af" /><Relationship Type="http://schemas.openxmlformats.org/officeDocument/2006/relationships/notesSlide" Target="/ppt/notesSlides/notesSlide2.xml" Id="Rac4319be263847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ff726624c4df8" /><Relationship Type="http://schemas.openxmlformats.org/officeDocument/2006/relationships/chart" Target="/ppt/slides/charts/chart5.xml" Id="Re5cb8e9b67ac477a" /><Relationship Type="http://schemas.openxmlformats.org/officeDocument/2006/relationships/chart" Target="/ppt/slides/charts/chart6.xml" Id="R7eca967287c24de0" /><Relationship Type="http://schemas.openxmlformats.org/officeDocument/2006/relationships/notesSlide" Target="/ppt/notesSlides/notesSlide3.xml" Id="R844cd19c40774d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aee5c1f9347b4" /><Relationship Type="http://schemas.openxmlformats.org/officeDocument/2006/relationships/chart" Target="/ppt/slides/charts/chart7.xml" Id="R8641e19fb8b14ed2" /><Relationship Type="http://schemas.openxmlformats.org/officeDocument/2006/relationships/notesSlide" Target="/ppt/notesSlides/notesSlide4.xml" Id="R7dbba8e8ce5a44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4c2089b364533" /><Relationship Type="http://schemas.openxmlformats.org/officeDocument/2006/relationships/chart" Target="/ppt/slides/charts/chart8.xml" Id="R26442274c6f8482a" /><Relationship Type="http://schemas.openxmlformats.org/officeDocument/2006/relationships/notesSlide" Target="/ppt/notesSlides/notesSlide5.xml" Id="R86f2b10903a34f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2d4d228d84cf3" /><Relationship Type="http://schemas.openxmlformats.org/officeDocument/2006/relationships/chart" Target="/ppt/slides/charts/chart9.xml" Id="Rb809f4999f5a4d82" /><Relationship Type="http://schemas.openxmlformats.org/officeDocument/2006/relationships/notesSlide" Target="/ppt/notesSlides/notesSlide6.xml" Id="Rfd4bd8a2afcd4d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26411460b48a8" /><Relationship Type="http://schemas.openxmlformats.org/officeDocument/2006/relationships/notesSlide" Target="/ppt/notesSlides/notesSlide7.xml" Id="R22f3e276dae8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73152bae54019" /><Relationship Type="http://schemas.openxmlformats.org/officeDocument/2006/relationships/chart" Target="/ppt/slides/charts/chart10.xml" Id="R802dc3781478444c" /><Relationship Type="http://schemas.openxmlformats.org/officeDocument/2006/relationships/notesSlide" Target="/ppt/notesSlides/notesSlide8.xml" Id="R87c231333c2d4a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144d3931d41e1" /><Relationship Type="http://schemas.openxmlformats.org/officeDocument/2006/relationships/chart" Target="/ppt/slides/charts/chart11.xml" Id="R37262e92f2184c40" /><Relationship Type="http://schemas.openxmlformats.org/officeDocument/2006/relationships/notesSlide" Target="/ppt/notesSlides/notesSlide9.xml" Id="R2b2e4f1f39a74796" /></Relationships>
</file>

<file path=ppt/slides/charts/chart1.xml><?xml version="1.0" encoding="utf-8"?>
<c:chartSpace xmlns:c="http://schemas.openxmlformats.org/drawingml/2006/chart">
  <c:lang val="en-US"/>
  <c:chart>
    <c:plotArea>
      <c:pieChart>
        <c:ser>
          <c:idx val="0"/>
          <c:order val="0"/>
          <c:tx>
            <c:v>Трудовые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Lit>
              <c:ptCount val="6"/>
              <c:pt idx="0">
                <c:v>1  Элиты с гарантиями</c:v>
              </c:pt>
              <c:pt idx="1">
                <c:v>2  Элиты без гарантий</c:v>
              </c:pt>
              <c:pt idx="2">
                <c:v>3  Распределённая власть с гарантиями</c:v>
              </c:pt>
              <c:pt idx="3">
                <c:v>4  Распределённые активы без гарантий</c:v>
              </c:pt>
              <c:pt idx="4">
                <c:v>5  Автономная система с гарантиями</c:v>
              </c:pt>
              <c:pt idx="5">
                <c:v>6  Автономная система без гарантий</c:v>
              </c:pt>
            </c:strLit>
          </c:cat>
          <c:val>
            <c:numLit>
              <c:formatCode>General</c:formatCode>
              <c:ptCount val="6"/>
              <c:pt idx="0">
                <c:v>17</c:v>
              </c:pt>
              <c:pt idx="1">
                <c:v>226</c:v>
              </c:pt>
              <c:pt idx="2">
                <c:v>11</c:v>
              </c:pt>
              <c:pt idx="3">
                <c:v>42</c:v>
              </c:pt>
              <c:pt idx="4">
                <c:v>1</c:v>
              </c:pt>
              <c:pt idx="5">
                <c:v>48</c:v>
              </c:pt>
            </c:numLit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pieChart>
        <c:ser>
          <c:idx val="0"/>
          <c:order val="0"/>
          <c:tx>
            <c:v>Частичный переход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Lit>
              <c:ptCount val="6"/>
              <c:pt idx="0">
                <c:v>1  Элиты с гарантиями</c:v>
              </c:pt>
              <c:pt idx="1">
                <c:v>2  Элиты без гарантий</c:v>
              </c:pt>
              <c:pt idx="2">
                <c:v>3  Распределённая власть с гарантиями</c:v>
              </c:pt>
              <c:pt idx="3">
                <c:v>4  Распределённые активы без гарантий</c:v>
              </c:pt>
              <c:pt idx="4">
                <c:v>5  Автономная система с гарантиями</c:v>
              </c:pt>
              <c:pt idx="5">
                <c:v>6  Автономная система без гарантий</c:v>
              </c:pt>
            </c:strLit>
          </c:cat>
          <c:val>
            <c:numLit>
              <c:formatCode>General</c:formatCode>
              <c:ptCount val="6"/>
              <c:pt idx="0">
                <c:v>11</c:v>
              </c:pt>
              <c:pt idx="1">
                <c:v>29</c:v>
              </c:pt>
              <c:pt idx="2">
                <c:v>12</c:v>
              </c:pt>
              <c:pt idx="3">
                <c:v>10</c:v>
              </c:pt>
              <c:pt idx="4">
                <c:v>5</c:v>
              </c:pt>
              <c:pt idx="5">
                <c:v>8</c:v>
              </c:pt>
            </c:numLit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pieChart>
        <c:ser>
          <c:idx val="0"/>
          <c:order val="0"/>
          <c:tx>
            <c:v>Посттрудовые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Lit>
              <c:ptCount val="6"/>
              <c:pt idx="0">
                <c:v>1  Элиты с гарантиями</c:v>
              </c:pt>
              <c:pt idx="1">
                <c:v>2  Элиты без гарантий</c:v>
              </c:pt>
              <c:pt idx="2">
                <c:v>3  Распределённая власть с гарантиями</c:v>
              </c:pt>
              <c:pt idx="3">
                <c:v>4  Распределённые активы без гарантий</c:v>
              </c:pt>
              <c:pt idx="4">
                <c:v>5  Автономная система с гарантиями</c:v>
              </c:pt>
              <c:pt idx="5">
                <c:v>6  Автономная система без гарантий</c:v>
              </c:pt>
            </c:strLit>
          </c:cat>
          <c:val>
            <c:numLit>
              <c:formatCode>General</c:formatCode>
              <c:ptCount val="6"/>
              <c:pt idx="0">
                <c:v>115</c:v>
              </c:pt>
              <c:pt idx="1">
                <c:v>80</c:v>
              </c:pt>
              <c:pt idx="2">
                <c:v>116</c:v>
              </c:pt>
              <c:pt idx="3">
                <c:v>11</c:v>
              </c:pt>
              <c:pt idx="4">
                <c:v>89</c:v>
              </c:pt>
              <c:pt idx="5">
                <c:v>59</c:v>
              </c:pt>
            </c:numLit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Сильная дистопия</c:v>
          </c:tx>
          <c:spPr>
            <a:solidFill xmlns:a="http://schemas.openxmlformats.org/drawingml/2006/main">
              <a:srgbClr val="AD654D"/>
            </a:solidFill>
          </c:spPr>
          <c:invertIfNegative val="0"/>
          <c:cat>
            <c:strLit>
              <c:ptCount val="3"/>
              <c:pt idx="0">
                <c:v>Трудовые, n = 345</c:v>
              </c:pt>
              <c:pt idx="1">
                <c:v>Частичный переход, n = 75</c:v>
              </c:pt>
              <c:pt idx="2">
                <c:v>Посттрудовые, n = 470</c:v>
              </c:pt>
            </c:strLit>
          </c:cat>
          <c:val>
            <c:numLit>
              <c:formatCode>0%</c:formatCode>
              <c:ptCount val="3"/>
              <c:pt idx="0">
                <c:v>0.5217391304</c:v>
              </c:pt>
              <c:pt idx="1">
                <c:v>0.2266666667</c:v>
              </c:pt>
              <c:pt idx="2">
                <c:v>0.3319148936</c:v>
              </c:pt>
            </c:numLit>
          </c:val>
        </c:ser>
        <c:ser>
          <c:idx val="1"/>
          <c:order val="1"/>
          <c:tx>
            <c:v>Промежуточные оценки</c:v>
          </c:tx>
          <c:spPr>
            <a:solidFill xmlns:a="http://schemas.openxmlformats.org/drawingml/2006/main">
              <a:srgbClr val="D7E0DF"/>
            </a:solidFill>
          </c:spPr>
          <c:invertIfNegative val="0"/>
          <c:dLbls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 b="1">
                    <a:solidFill>
                      <a:srgbClr val="223A4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Трудовые, n = 345</c:v>
              </c:pt>
              <c:pt idx="1">
                <c:v>Частичный переход, n = 75</c:v>
              </c:pt>
              <c:pt idx="2">
                <c:v>Посттрудовые, n = 470</c:v>
              </c:pt>
            </c:strLit>
          </c:cat>
          <c:val>
            <c:numLit>
              <c:formatCode>0%</c:formatCode>
              <c:ptCount val="3"/>
              <c:pt idx="0">
                <c:v>0.4637681159</c:v>
              </c:pt>
              <c:pt idx="1">
                <c:v>0.7333333333</c:v>
              </c:pt>
              <c:pt idx="2">
                <c:v>0.4787234043</c:v>
              </c:pt>
            </c:numLit>
          </c:val>
        </c:ser>
        <c:ser>
          <c:idx val="2"/>
          <c:order val="2"/>
          <c:tx>
            <c:v>Сильная утопия</c:v>
          </c:tx>
          <c:spPr>
            <a:solidFill xmlns:a="http://schemas.openxmlformats.org/drawingml/2006/main">
              <a:srgbClr val="277F75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Трудовые, n = 345</c:v>
              </c:pt>
              <c:pt idx="1">
                <c:v>Частичный переход, n = 75</c:v>
              </c:pt>
              <c:pt idx="2">
                <c:v>Посттрудовые, n = 470</c:v>
              </c:pt>
            </c:strLit>
          </c:cat>
          <c:val>
            <c:numLit>
              <c:formatCode>0%</c:formatCode>
              <c:ptCount val="3"/>
              <c:pt idx="0">
                <c:v>0.0144927536</c:v>
              </c:pt>
              <c:pt idx="1">
                <c:v>0.04</c:v>
              </c:pt>
              <c:pt idx="2">
                <c:v>0.1893617021</c:v>
              </c:pt>
            </c:numLit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Гарантии</c:v>
          </c:tx>
          <c:spPr>
            <a:solidFill xmlns:a="http://schemas.openxmlformats.org/drawingml/2006/main">
              <a:srgbClr val="277F75"/>
            </a:solidFill>
          </c:spPr>
          <c:invertIfNegative val="0"/>
          <c:cat>
            <c:strLit>
              <c:ptCount val="3"/>
              <c:pt idx="0">
                <c:v>Трудовые</c:v>
              </c:pt>
              <c:pt idx="1">
                <c:v>Частичный переход</c:v>
              </c:pt>
              <c:pt idx="2">
                <c:v>Посттрудовые</c:v>
              </c:pt>
            </c:strLit>
          </c:cat>
          <c:val>
            <c:numLit>
              <c:formatCode>0%</c:formatCode>
              <c:ptCount val="3"/>
              <c:pt idx="0">
                <c:v>0.084057971</c:v>
              </c:pt>
              <c:pt idx="1">
                <c:v>0.3466666667</c:v>
              </c:pt>
              <c:pt idx="2">
                <c:v>0.670212766</c:v>
              </c:pt>
            </c:numLit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Без гарантий</c:v>
          </c:tx>
          <c:spPr>
            <a:solidFill xmlns:a="http://schemas.openxmlformats.org/drawingml/2006/main">
              <a:srgbClr val="AD654D"/>
            </a:solidFill>
          </c:spPr>
          <c:invertIfNegative val="0"/>
          <c:cat>
            <c:strLit>
              <c:ptCount val="3"/>
              <c:pt idx="0">
                <c:v>Трудовые</c:v>
              </c:pt>
              <c:pt idx="1">
                <c:v>Частичный переход</c:v>
              </c:pt>
              <c:pt idx="2">
                <c:v>Посттрудовые</c:v>
              </c:pt>
            </c:strLit>
          </c:cat>
          <c:val>
            <c:numLit>
              <c:formatCode>0.00</c:formatCode>
              <c:ptCount val="3"/>
              <c:pt idx="0">
                <c:v>-0.5055379747</c:v>
              </c:pt>
              <c:pt idx="1">
                <c:v>-0.2418367347</c:v>
              </c:pt>
              <c:pt idx="2">
                <c:v>-0.6419354839</c:v>
              </c:pt>
            </c:numLit>
          </c:val>
        </c:ser>
        <c:ser>
          <c:idx val="1"/>
          <c:order val="1"/>
          <c:tx>
            <c:v>С гарантиями</c:v>
          </c:tx>
          <c:spPr>
            <a:solidFill xmlns:a="http://schemas.openxmlformats.org/drawingml/2006/main">
              <a:srgbClr val="277F75"/>
            </a:solidFill>
          </c:spPr>
          <c:invertIfNegative val="0"/>
          <c:cat>
            <c:strLit>
              <c:ptCount val="3"/>
              <c:pt idx="0">
                <c:v>Трудовые</c:v>
              </c:pt>
              <c:pt idx="1">
                <c:v>Частичный переход</c:v>
              </c:pt>
              <c:pt idx="2">
                <c:v>Посттрудовые</c:v>
              </c:pt>
            </c:strLit>
          </c:cat>
          <c:val>
            <c:numLit>
              <c:formatCode>0.00</c:formatCode>
              <c:ptCount val="3"/>
              <c:pt idx="0">
                <c:v>0.0551724138</c:v>
              </c:pt>
              <c:pt idx="1">
                <c:v>0.1115384615</c:v>
              </c:pt>
              <c:pt idx="2">
                <c:v>0.1449206349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-0.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Средняя доля работающих</c:v>
          </c:tx>
          <c:spPr>
            <a:solidFill xmlns:a="http://schemas.openxmlformats.org/drawingml/2006/main">
              <a:srgbClr val="6874B5"/>
            </a:solidFill>
          </c:spPr>
          <c:invertIfNegative val="0"/>
          <c:cat>
            <c:strLit>
              <c:ptCount val="3"/>
              <c:pt idx="0">
                <c:v>Трудовые, n = 345</c:v>
              </c:pt>
              <c:pt idx="1">
                <c:v>Частичный переход, n = 75</c:v>
              </c:pt>
              <c:pt idx="2">
                <c:v>Посттрудовые, n = 470</c:v>
              </c:pt>
            </c:strLit>
          </c:cat>
          <c:val>
            <c:numLit>
              <c:formatCode>0%</c:formatCode>
              <c:ptCount val="3"/>
              <c:pt idx="0">
                <c:v>0.7690917874</c:v>
              </c:pt>
              <c:pt idx="1">
                <c:v>0.6586666667</c:v>
              </c:pt>
              <c:pt idx="2">
                <c:v>0.5872553191</c:v>
              </c:pt>
            </c:numLit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Трудовые</c:v>
          </c:tx>
          <c:spPr>
            <a:solidFill xmlns:a="http://schemas.openxmlformats.org/drawingml/2006/main">
              <a:srgbClr val="7B8896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</c:dLbls>
          <c:cat>
            <c:strLit>
              <c:ptCount val="8"/>
              <c:pt idx="0">
                <c:v>Книги, n = 362</c:v>
              </c:pt>
              <c:pt idx="1">
                <c:v>Аниме, n = 73</c:v>
              </c:pt>
              <c:pt idx="2">
                <c:v>Манга, n = 18</c:v>
              </c:pt>
              <c:pt idx="3">
                <c:v>Игры, n = 139</c:v>
              </c:pt>
              <c:pt idx="4">
                <c:v>Телевидение, n = 108</c:v>
              </c:pt>
              <c:pt idx="5">
                <c:v>Кино, n = 89</c:v>
              </c:pt>
              <c:pt idx="6">
                <c:v>Комиксы, n = 38</c:v>
              </c:pt>
              <c:pt idx="7">
                <c:v>Веб-проза, n = 29</c:v>
              </c:pt>
            </c:strLit>
          </c:cat>
          <c:val>
            <c:numLit>
              <c:formatCode>0%</c:formatCode>
              <c:ptCount val="8"/>
              <c:pt idx="0">
                <c:v>0.3784530387</c:v>
              </c:pt>
              <c:pt idx="1">
                <c:v>0.4794520548</c:v>
              </c:pt>
              <c:pt idx="2">
                <c:v>0.6666666667</c:v>
              </c:pt>
              <c:pt idx="3">
                <c:v>0.4604316547</c:v>
              </c:pt>
              <c:pt idx="4">
                <c:v>0.3888888889</c:v>
              </c:pt>
              <c:pt idx="5">
                <c:v>0.4269662921</c:v>
              </c:pt>
              <c:pt idx="6">
                <c:v>0.2631578947</c:v>
              </c:pt>
              <c:pt idx="7">
                <c:v>0.0689655172</c:v>
              </c:pt>
            </c:numLit>
          </c:val>
        </c:ser>
        <c:ser>
          <c:idx val="1"/>
          <c:order val="1"/>
          <c:tx>
            <c:v>Частичный переход</c:v>
          </c:tx>
          <c:spPr>
            <a:solidFill xmlns:a="http://schemas.openxmlformats.org/drawingml/2006/main">
              <a:srgbClr val="D69C46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</c:dLbls>
          <c:cat>
            <c:strLit>
              <c:ptCount val="8"/>
              <c:pt idx="0">
                <c:v>Книги, n = 362</c:v>
              </c:pt>
              <c:pt idx="1">
                <c:v>Аниме, n = 73</c:v>
              </c:pt>
              <c:pt idx="2">
                <c:v>Манга, n = 18</c:v>
              </c:pt>
              <c:pt idx="3">
                <c:v>Игры, n = 139</c:v>
              </c:pt>
              <c:pt idx="4">
                <c:v>Телевидение, n = 108</c:v>
              </c:pt>
              <c:pt idx="5">
                <c:v>Кино, n = 89</c:v>
              </c:pt>
              <c:pt idx="6">
                <c:v>Комиксы, n = 38</c:v>
              </c:pt>
              <c:pt idx="7">
                <c:v>Веб-проза, n = 29</c:v>
              </c:pt>
            </c:strLit>
          </c:cat>
          <c:val>
            <c:numLit>
              <c:formatCode>0%</c:formatCode>
              <c:ptCount val="8"/>
              <c:pt idx="0">
                <c:v>0.0994475138</c:v>
              </c:pt>
              <c:pt idx="1">
                <c:v>0.0684931507</c:v>
              </c:pt>
              <c:pt idx="2">
                <c:v>0.1111111111</c:v>
              </c:pt>
              <c:pt idx="3">
                <c:v>0.0791366906</c:v>
              </c:pt>
              <c:pt idx="4">
                <c:v>0.037037037</c:v>
              </c:pt>
              <c:pt idx="5">
                <c:v>0.0898876404</c:v>
              </c:pt>
              <c:pt idx="6">
                <c:v>0.0789473684</c:v>
              </c:pt>
              <c:pt idx="7">
                <c:v>0</c:v>
              </c:pt>
            </c:numLit>
          </c:val>
        </c:ser>
        <c:ser>
          <c:idx val="2"/>
          <c:order val="2"/>
          <c:tx>
            <c:v>Посттрудовые</c:v>
          </c:tx>
          <c:spPr>
            <a:solidFill xmlns:a="http://schemas.openxmlformats.org/drawingml/2006/main">
              <a:srgbClr val="277F75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</c:dLbls>
          <c:cat>
            <c:strLit>
              <c:ptCount val="8"/>
              <c:pt idx="0">
                <c:v>Книги, n = 362</c:v>
              </c:pt>
              <c:pt idx="1">
                <c:v>Аниме, n = 73</c:v>
              </c:pt>
              <c:pt idx="2">
                <c:v>Манга, n = 18</c:v>
              </c:pt>
              <c:pt idx="3">
                <c:v>Игры, n = 139</c:v>
              </c:pt>
              <c:pt idx="4">
                <c:v>Телевидение, n = 108</c:v>
              </c:pt>
              <c:pt idx="5">
                <c:v>Кино, n = 89</c:v>
              </c:pt>
              <c:pt idx="6">
                <c:v>Комиксы, n = 38</c:v>
              </c:pt>
              <c:pt idx="7">
                <c:v>Веб-проза, n = 29</c:v>
              </c:pt>
            </c:strLit>
          </c:cat>
          <c:val>
            <c:numLit>
              <c:formatCode>0%</c:formatCode>
              <c:ptCount val="8"/>
              <c:pt idx="0">
                <c:v>0.5220994475</c:v>
              </c:pt>
              <c:pt idx="1">
                <c:v>0.4520547945</c:v>
              </c:pt>
              <c:pt idx="2">
                <c:v>0.2222222222</c:v>
              </c:pt>
              <c:pt idx="3">
                <c:v>0.4604316547</c:v>
              </c:pt>
              <c:pt idx="4">
                <c:v>0.5740740741</c:v>
              </c:pt>
              <c:pt idx="5">
                <c:v>0.4831460674</c:v>
              </c:pt>
              <c:pt idx="6">
                <c:v>0.6578947368</c:v>
              </c:pt>
              <c:pt idx="7">
                <c:v>0.9310344828</c:v>
              </c:pt>
            </c:numLit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Групп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B8896"/>
              </a:solidFill>
            </c:spPr>
          </c:dPt>
          <c:cat>
            <c:strLit>
              <c:ptCount val="3"/>
              <c:pt idx="0">
                <c:v>Посттрудовые выше</c:v>
              </c:pt>
              <c:pt idx="1">
                <c:v>Трудовые выше</c:v>
              </c:pt>
              <c:pt idx="2">
                <c:v>Одинаковая средняя U</c:v>
              </c:pt>
            </c:strLit>
          </c:cat>
          <c:val>
            <c:numLit>
              <c:formatCode>0</c:formatCode>
              <c:ptCount val="3"/>
              <c:pt idx="0">
                <c:v>60</c:v>
              </c:pt>
              <c:pt idx="1">
                <c:v>23</c:v>
              </c:pt>
              <c:pt idx="2">
                <c:v>1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Узнаваемость</c:v>
          </c:tx>
          <c:spPr>
            <a:solidFill xmlns:a="http://schemas.openxmlformats.org/drawingml/2006/main">
              <a:srgbClr val="6874B5"/>
            </a:solidFill>
          </c:spPr>
          <c:invertIfNegative val="0"/>
          <c:cat>
            <c:strLit>
              <c:ptCount val="3"/>
              <c:pt idx="0">
                <c:v>Трудовые, n = 345</c:v>
              </c:pt>
              <c:pt idx="1">
                <c:v>Частичный переход, n = 75</c:v>
              </c:pt>
              <c:pt idx="2">
                <c:v>Посттрудовые, n = 470</c:v>
              </c:pt>
            </c:strLit>
          </c:cat>
          <c:val>
            <c:numLit>
              <c:formatCode>0.00</c:formatCode>
              <c:ptCount val="3"/>
              <c:pt idx="0">
                <c:v>0.4783834586</c:v>
              </c:pt>
              <c:pt idx="1">
                <c:v>0.5038461538</c:v>
              </c:pt>
              <c:pt idx="2">
                <c:v>0.4673539519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Утопичность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</c:dLbls>
          <c:cat>
            <c:strLit>
              <c:ptCount val="6"/>
              <c:pt idx="0">
                <c:v>Трудовые: Narkina 5</c:v>
              </c:pt>
              <c:pt idx="1">
                <c:v>Трудовые: Aria / Аква</c:v>
              </c:pt>
              <c:pt idx="2">
                <c:v>Частичный: Colossus</c:v>
              </c:pt>
              <c:pt idx="3">
                <c:v>Частичный: Iacon после восстановления</c:v>
              </c:pt>
              <c:pt idx="4">
                <c:v>Посттрудовые: люди в Матрице</c:v>
              </c:pt>
              <c:pt idx="5">
                <c:v>Посттрудовые: Культура</c:v>
              </c:pt>
            </c:strLit>
          </c:cat>
          <c:val>
            <c:numLit>
              <c:formatCode>0.00</c:formatCode>
              <c:ptCount val="6"/>
              <c:pt idx="0">
                <c:v>-0.95</c:v>
              </c:pt>
              <c:pt idx="1">
                <c:v>0.75</c:v>
              </c:pt>
              <c:pt idx="2">
                <c:v>-0.9</c:v>
              </c:pt>
              <c:pt idx="3">
                <c:v>0.55</c:v>
              </c:pt>
              <c:pt idx="4">
                <c:v>-0.95</c:v>
              </c:pt>
              <c:pt idx="5">
                <c:v>0.9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FDD47-9B72-4031-8636-6CC4AC11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Уклады на трёх стадиях перехода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E811D-A33A-47D2-893B-2925364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Стадия описывает роль труда в распределении благ. Цвет показывает устройство общества.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A3E7A-9232-4147-8AA0-EFA858F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FE3B8-6F2A-4E22-89B2-3B97CB1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6FD2-7E58-4970-94F6-1118A81E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B8896"/>
                </a:solidFill>
                <a:latin typeface="Arial"/>
                <a:ea typeface="Arial"/>
                <a:cs typeface="Arial"/>
              </a:rPr>
              <a:t>Трудовые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70440-5199-478F-822C-16C041B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345 обществ, 38,8% базы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457A718-AEA9-4EEB-A7F1-24E1C9ABCFD3}"/>
              </a:ext>
            </a:extLst>
          </p:cNvPr>
          <p:cNvGraphicFramePr/>
          <p:nvPr/>
        </p:nvGraphicFramePr>
        <p:xfrm>
          <a:off xmlns:a="http://schemas.openxmlformats.org/drawingml/2006/main" x="6191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ee18c04f42429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4F58C-7CED-4F7D-9252-9085ADC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Частичный переход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4C34A-8ECF-40C6-893F-75F7AF7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75 обществ, 8,4% базы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552F40A-4779-4AA5-BDEF-B596659BAD8F}"/>
              </a:ext>
            </a:extLst>
          </p:cNvPr>
          <p:cNvGraphicFramePr/>
          <p:nvPr/>
        </p:nvGraphicFramePr>
        <p:xfrm>
          <a:off xmlns:a="http://schemas.openxmlformats.org/drawingml/2006/main" x="547687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c6d2c7c5f0494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33F0B-F9BA-47B5-8C96-551389D2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Посттрудовые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68FBB-6564-4B06-9D40-397C270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470 обществ, 52,8% базы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66A0718E-54B0-468A-BC6A-0F4347252E16}"/>
              </a:ext>
            </a:extLst>
          </p:cNvPr>
          <p:cNvGraphicFramePr/>
          <p:nvPr/>
        </p:nvGraphicFramePr>
        <p:xfrm>
          <a:off xmlns:a="http://schemas.openxmlformats.org/drawingml/2006/main" x="103346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2374b43a024da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7C874-4A94-4011-A5E7-60318D1B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1  Элиты с гарантиями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20255-58D4-470E-9949-4ECBE85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D654D"/>
                </a:solidFill>
                <a:latin typeface="Arial"/>
                <a:ea typeface="Arial"/>
                <a:cs typeface="Arial"/>
              </a:rPr>
              <a:t>2  Элиты без гарантий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B228B-C1C2-4B1A-97D0-31B8B446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3  Распределённая власть с гарантиями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73BAB-91FB-491B-8FD9-146B8CBC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C9D85"/>
                </a:solidFill>
                <a:latin typeface="Arial"/>
                <a:ea typeface="Arial"/>
                <a:cs typeface="Arial"/>
              </a:rPr>
              <a:t>4  Распределённые активы без гарантий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1D028-FC33-4A69-A817-99850879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874B5"/>
                </a:solidFill>
                <a:latin typeface="Arial"/>
                <a:ea typeface="Arial"/>
                <a:cs typeface="Arial"/>
              </a:rPr>
              <a:t>5  Автономная система с гарантиями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AA05E-149A-4072-BF90-EEBB38E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C5D91"/>
                </a:solidFill>
                <a:latin typeface="Arial"/>
                <a:ea typeface="Arial"/>
                <a:cs typeface="Arial"/>
              </a:rPr>
              <a:t>6  Автономная система без гарантий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27F8F-7F2A-477D-BD69-53ADB9F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762875"/>
            <a:ext cx="1400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У трудовых обществ уклад задан координатами. Границы: гарантии 0, контроль −⅓ и +⅓.</a:t>
            </a:r>
          </a:p>
        </p:txBody>
      </p:sp>
    </p:spTree>
    <p:extLst>
      <p:ext uri="{BB962C8B-B14F-4D97-AF65-F5344CB8AC3E}">
        <p14:creationId xmlns:p14="http://schemas.microsoft.com/office/powerpoint/2010/main" val="1301331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9C743-57BE-410A-A13D-62383CA0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Среднее скрывает разные доли крайних исходов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56526-204A-4DF5-9AB9-130524B9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Частичный и полный переход имеют среднюю U около −0,12, но разные распределения.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95D7E-D4F9-4ABB-A8A8-02BA6DDD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52B19-DBD4-4B26-9C9F-A401315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933E934-5568-4420-904D-39BD9B5EA337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0763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93f7c5763748a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3B6E9-D947-4528-ADB0-AB248A42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23F62-4CD8-4E20-B524-65E42C8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0992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сильных утопий при полном переходе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CE312-A0DC-432A-949B-DAC2A7C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10125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687B8-BE8C-4414-8F3B-7B59F0F2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73405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сильных утопий при частичном переходе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4365F-DD91-4E28-B0EF-6F4AD84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7710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Сильная дистопия: U ≤ −0,5. Сильная утопия: U ≥ +0,5. Центральная зона включает смешанные и неясные случаи.</a:t>
            </a:r>
          </a:p>
        </p:txBody>
      </p:sp>
    </p:spTree>
    <p:extLst>
      <p:ext uri="{BB962C8B-B14F-4D97-AF65-F5344CB8AC3E}">
        <p14:creationId xmlns:p14="http://schemas.microsoft.com/office/powerpoint/2010/main" val="2778760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EB55A-9C5D-40A0-A9FF-1CD9463E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Гарантии различают исходы при любой стадии перехода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2BF7C-BD8A-4F62-8558-626A48D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При полном переходе гарантии встречаются чаще, а их отсутствие связано с самой низкой средней 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E018D-1C10-4FD7-974A-8A1E90F9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E13D6-8E3C-4258-B8E5-938DB7F8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E62E0-9E8B-486D-B78D-5EBFFB56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633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Доля обществ с гарантиями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4453E26-F161-4C3E-BE44-067A6422403B}"/>
              </a:ext>
            </a:extLst>
          </p:cNvPr>
          <p:cNvGraphicFramePr/>
          <p:nvPr/>
        </p:nvGraphicFramePr>
        <p:xfrm>
          <a:off xmlns:a="http://schemas.openxmlformats.org/drawingml/2006/main" x="619125" y="2590800"/>
          <a:ext xmlns:a="http://schemas.openxmlformats.org/drawingml/2006/main" cx="633412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cb8e9b67ac477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F0D9F-9485-474E-B38D-90FD6C68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утопичность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514C2DD-703F-46AF-B646-9F2C8D51B77F}"/>
              </a:ext>
            </a:extLst>
          </p:cNvPr>
          <p:cNvGraphicFramePr/>
          <p:nvPr/>
        </p:nvGraphicFramePr>
        <p:xfrm>
          <a:off xmlns:a="http://schemas.openxmlformats.org/drawingml/2006/main" x="7953375" y="259080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ca967287c24de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48E84-43EA-442F-B8AD-2D78F06D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913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Полный переход без гарантий: U = −0,64. Трудовая зависимость без гарантий: U = −0,51.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BADA8-7186-4E4D-829C-B4B89B84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43800"/>
            <a:ext cx="1400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Гарантии на этом слайде означают axis.guarantees &lt; 0. Все ячейки имеют не менее 26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2042134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6D0AD-9D56-4636-9B45-7A75949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Посттрудовые общества сохраняют массовую работу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63CB9-1098-4086-A056-69F07BCC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 разметке работа включает добровольное творчество, заботу, исследования и обязательные задания.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9C987-18D9-4ABB-B163-1FFC716D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8743D-AD9F-4957-BA16-5AB3746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9A24534-E3BD-4CB4-BA62-FDAADDCEF3C8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525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41e19fb8b14ed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2D471-2015-4770-B31F-EB8A635C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73%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3C4C7-098C-458B-AB36-E6FA27DE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09925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посттрудовых обществ: работает хотя бы половина населения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97DF0-C750-4B35-B73F-FF519EB3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9587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11 из 470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16C92-6E2C-4631-9A43-4A247954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198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имеют оценку неработающих 95% и выше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70220-7CB7-44D0-9535-D4BEA69B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818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Переход означает, что труд перестал быть главным каналом получения благ. Участие в деятельности оценивается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097947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09264-B3E5-4FF9-BDF6-DCC0C0F4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Доля состоявшегося перехода различается между медиа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53770-3CE5-4CC2-AD78-307F9AF4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Теги медиа пересекаются. Размер выборки указан рядом с каждой строкой.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43DDE-F69E-44CB-AFD0-12B86A2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62BAE-3504-4490-B73D-1AC345E4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BA122DC-7A91-470B-A702-60E16056BB45}"/>
              </a:ext>
            </a:extLst>
          </p:cNvPr>
          <p:cNvGraphicFramePr/>
          <p:nvPr/>
        </p:nvGraphicFramePr>
        <p:xfrm>
          <a:off xmlns:a="http://schemas.openxmlformats.org/drawingml/2006/main" x="619125" y="2066925"/>
          <a:ext xmlns:a="http://schemas.openxmlformats.org/drawingml/2006/main" cx="14001750" cy="504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442274c6f8482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9506D-66BA-4C1D-AF69-3603A92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05700"/>
            <a:ext cx="1400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Веб-проза: 27 из 29 обществ прошли переход, но 23 записи принадлежат Orion’s Arm. У манги всего 18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704099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FA456-3179-4CE9-99A4-9C78AE3A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Сравнение обществ внутри одной группы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6C855-08E5-45C6-9F07-E8B96A7C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 60 из 84 групп посттрудовые общества имеют более высокую среднюю U, чем трудовые.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D50F0-6CE6-465E-AC31-9550ADFB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4B2E4-44EB-4398-8F7B-F6FF05C5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11D42B3-68C5-45AB-9216-D64AF617B8FA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048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09f4999f5a4d8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08F9F-73CF-47C4-8110-254242B3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3837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+0,36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78142-BAC4-4119-B788-5D66C7C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623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разница U между посттрудовыми и трудовыми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92D44-3682-494A-8A80-F7172C9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95%-ный интервал</a:t>
            </a:r>
          </a:p>
          <a:p xmlns:a="http://schemas.openxmlformats.org/drawingml/2006/main">
            <a: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[+0,23; +0,48]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6B950-659F-4730-ADF8-7E1664EC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24700"/>
            <a:ext cx="1400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Одна франшиза может показывать противоположные модели. Сравнение внутри группы ослабляет влияние известности и медиа.</a:t>
            </a:r>
          </a:p>
        </p:txBody>
      </p:sp>
    </p:spTree>
    <p:extLst>
      <p:ext uri="{BB962C8B-B14F-4D97-AF65-F5344CB8AC3E}">
        <p14:creationId xmlns:p14="http://schemas.microsoft.com/office/powerpoint/2010/main" val="432886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2E52F-9B05-4E99-9AD7-044DE83B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Связь стадии с утопичностью зависит от состава сравнения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08158-A9BF-488C-9672-A3960C6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Разница U с трудовыми обществами. Веса групп одинаковы, ошибки учитывают зависимость внутри группы.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48F8E-98CD-4D99-A16B-3EDFAC9E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54819-3991-457A-BDA4-21D1B26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108EB-4247-48DE-91E3-9BA09BB69D2F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40017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905250"/>
                <a:gridCol w="3905250"/>
              </a:tblGrid>
              <a:tr h="619125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Условия сравнения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Частичный переход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Полный переход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Только стадия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+0,32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[+0,20; +0,43]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+0,31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[+0,23; +0,39]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Медиа и узнаваемость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+0,30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[+0,20; +0,41]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+0,30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[+0,22; +0,38]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Также гарантии, контроль, участие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+0,07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[-0,01; +0,16]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-0,16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[-0,23; -0,10]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87CBE-DFD0-431A-8EAD-C286BFB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400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После учёта условий преимущество полного перехода исчезает. Это условная связь, чувствительная к разметке координат.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AEAE3-1496-4FD1-A778-3F6F0DA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62825"/>
            <a:ext cx="1400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Гарантии и контроль входят и в описание общества, и в оценку благополучия. Таблица не измеряет последствия самого перехода.</a:t>
            </a:r>
          </a:p>
        </p:txBody>
      </p:sp>
    </p:spTree>
    <p:extLst>
      <p:ext uri="{BB962C8B-B14F-4D97-AF65-F5344CB8AC3E}">
        <p14:creationId xmlns:p14="http://schemas.microsoft.com/office/powerpoint/2010/main" val="1948100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81FEF-269F-44A0-9505-2733899A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Узнаваемость почти не различает три стадии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C8A1A-F1AC-4063-AC40-1A051AB8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Показаны средние редакторские оценки популярности с равным весом групп внутри стадии.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B97AC-DB4A-48AF-A48D-20FF6300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98317-6CB0-4D62-AA7C-3AD22B3B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301636C-E46F-477E-81AA-1B23BC053379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525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2dc3781478444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EEFDE-0C35-469B-8304-FAFEB08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24125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6874B5"/>
                </a:solidFill>
                <a:latin typeface="Arial"/>
                <a:ea typeface="Arial"/>
                <a:cs typeface="Arial"/>
              </a:rPr>
              <a:t>≈0,5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7AFC5-C193-47D5-BD28-93EFA29D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48050"/>
            <a:ext cx="3476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узнаваемость у каждой стадии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70F00-CEDA-4D69-B6BF-C1E717D7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95875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Одинаковый балл наследуют все общества одной группы.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0442A-862D-4438-AB52-A90E93B4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48500"/>
            <a:ext cx="1400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После поправки на медиа различия неубедительны. Для исторической популярности нужен временной ряд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2017140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0243A-6601-4D09-B143-80445C1E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Каждая стадия допускает противоположные исходы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07B83-CB42-4C88-80CD-FEA1D9BF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Сопоставимые статусы могут сочетаться с принуждением, свободным выбором или исключением части населения.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40EEA-38D5-410B-B1CF-C0885613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2163-5A31-45EC-84BD-6BBBAF1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7F5F964-B3BE-4B58-B283-4640FD729AD3}"/>
              </a:ext>
            </a:extLst>
          </p:cNvPr>
          <p:cNvGraphicFramePr/>
          <p:nvPr/>
        </p:nvGraphicFramePr>
        <p:xfrm>
          <a:off xmlns:a="http://schemas.openxmlformats.org/drawingml/2006/main" x="619125" y="2114550"/>
          <a:ext xmlns:a="http://schemas.openxmlformats.org/drawingml/2006/main" cx="14001750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262e92f2184c4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7BE8F-901E-4CF8-A820-E041E1EA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8662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Для нового исследования полезно отдельно разметить свободу выхода, принуждение и охват гарантий, независимо от U.</a:t>
            </a:r>
          </a:p>
        </p:txBody>
      </p:sp>
    </p:spTree>
    <p:extLst>
      <p:ext uri="{BB962C8B-B14F-4D97-AF65-F5344CB8AC3E}">
        <p14:creationId xmlns:p14="http://schemas.microsoft.com/office/powerpoint/2010/main" val="1894593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2026-10-22T12:49:43.4450000Z</dcterms:created>
  <dcterms:modified xsi:type="dcterms:W3CDTF">2026-10-22T12:49:43.4450000Z</dcterms:modified>
</coreProperties>
</file>