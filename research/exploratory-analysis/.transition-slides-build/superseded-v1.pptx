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8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9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0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1.xml" ContentType="application/vnd.openxmlformats-officedocument.drawingml.chart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5ea31752354083" /><Relationship Type="http://schemas.openxmlformats.org/officeDocument/2006/relationships/extended-properties" Target="/docProps/app.xml" Id="R9f3f85427e9b402d" /><Relationship Type="http://schemas.openxmlformats.org/officeDocument/2006/relationships/officeDocument" Target="/ppt/presentation.xml" Id="R69219c838dc544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23b0d84379404d"/>
  </p:sldMasterIdLst>
  <p:notesMasterIdLst>
    <p:notesMasterId xmlns:r="http://schemas.openxmlformats.org/officeDocument/2006/relationships" r:id="Rb4ed5cb9bad94746"/>
  </p:notesMasterIdLst>
  <p:sldIdLst>
    <p:sldId xmlns:r="http://schemas.openxmlformats.org/officeDocument/2006/relationships" id="256" r:id="R6b9fb79da7464025"/>
    <p:sldId xmlns:r="http://schemas.openxmlformats.org/officeDocument/2006/relationships" id="257" r:id="R100a569d792a41fc"/>
    <p:sldId xmlns:r="http://schemas.openxmlformats.org/officeDocument/2006/relationships" id="258" r:id="R0063e180251b4dbe"/>
    <p:sldId xmlns:r="http://schemas.openxmlformats.org/officeDocument/2006/relationships" id="259" r:id="R5aaf7b9c6e3840c9"/>
    <p:sldId xmlns:r="http://schemas.openxmlformats.org/officeDocument/2006/relationships" id="260" r:id="R38f622db6d974e3b"/>
    <p:sldId xmlns:r="http://schemas.openxmlformats.org/officeDocument/2006/relationships" id="261" r:id="Rb06003e7b9eb43a9"/>
    <p:sldId xmlns:r="http://schemas.openxmlformats.org/officeDocument/2006/relationships" id="262" r:id="Rc645c51c45de49fc"/>
    <p:sldId xmlns:r="http://schemas.openxmlformats.org/officeDocument/2006/relationships" id="263" r:id="R6ae88bec8b084357"/>
    <p:sldId xmlns:r="http://schemas.openxmlformats.org/officeDocument/2006/relationships" id="264" r:id="R36e3950e720a49f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6b037d888b454c" /><Relationship Type="http://schemas.openxmlformats.org/officeDocument/2006/relationships/slideMaster" Target="/ppt/slideMasters/slideMaster1.xml" Id="R3823b0d84379404d" /><Relationship Type="http://schemas.openxmlformats.org/officeDocument/2006/relationships/notesMaster" Target="/ppt/notesMasters/notesMaster1.xml" Id="Rb4ed5cb9bad94746" /><Relationship Type="http://schemas.openxmlformats.org/officeDocument/2006/relationships/presProps" Target="/ppt/presProps.xml" Id="R8165b5e4d3eb4b48" /><Relationship Type="http://schemas.openxmlformats.org/officeDocument/2006/relationships/tableStyles" Target="/ppt/tableStyles.xml" Id="R336c7e5d22644ef3" /><Relationship Type="http://schemas.openxmlformats.org/officeDocument/2006/relationships/slide" Target="/ppt/slides/slide1.xml" Id="R6b9fb79da7464025" /><Relationship Type="http://schemas.openxmlformats.org/officeDocument/2006/relationships/slide" Target="/ppt/slides/slide2.xml" Id="R100a569d792a41fc" /><Relationship Type="http://schemas.openxmlformats.org/officeDocument/2006/relationships/slide" Target="/ppt/slides/slide3.xml" Id="R0063e180251b4dbe" /><Relationship Type="http://schemas.openxmlformats.org/officeDocument/2006/relationships/slide" Target="/ppt/slides/slide4.xml" Id="R5aaf7b9c6e3840c9" /><Relationship Type="http://schemas.openxmlformats.org/officeDocument/2006/relationships/slide" Target="/ppt/slides/slide5.xml" Id="R38f622db6d974e3b" /><Relationship Type="http://schemas.openxmlformats.org/officeDocument/2006/relationships/slide" Target="/ppt/slides/slide6.xml" Id="Rb06003e7b9eb43a9" /><Relationship Type="http://schemas.openxmlformats.org/officeDocument/2006/relationships/slide" Target="/ppt/slides/slide7.xml" Id="Rc645c51c45de49fc" /><Relationship Type="http://schemas.openxmlformats.org/officeDocument/2006/relationships/slide" Target="/ppt/slides/slide8.xml" Id="R6ae88bec8b084357" /><Relationship Type="http://schemas.openxmlformats.org/officeDocument/2006/relationships/slide" Target="/ppt/slides/slide9.xml" Id="R36e3950e720a49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a8d7b5d5fd49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09cf546dcf4e2d" /><Relationship Type="http://schemas.openxmlformats.org/officeDocument/2006/relationships/notesMaster" Target="/ppt/notesMasters/notesMaster1.xml" Id="Re1a7467d629240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3d7ee9242c493a" /><Relationship Type="http://schemas.openxmlformats.org/officeDocument/2006/relationships/notesMaster" Target="/ppt/notesMasters/notesMaster1.xml" Id="R654142aa903848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d63b53594541d2" /><Relationship Type="http://schemas.openxmlformats.org/officeDocument/2006/relationships/notesMaster" Target="/ppt/notesMasters/notesMaster1.xml" Id="R032e112bd5aa43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e4b277b9244226" /><Relationship Type="http://schemas.openxmlformats.org/officeDocument/2006/relationships/notesMaster" Target="/ppt/notesMasters/notesMaster1.xml" Id="R5f188507fb5743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3899c9095743bd" /><Relationship Type="http://schemas.openxmlformats.org/officeDocument/2006/relationships/notesMaster" Target="/ppt/notesMasters/notesMaster1.xml" Id="Rde55a3fcb56549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063df02e484039" /><Relationship Type="http://schemas.openxmlformats.org/officeDocument/2006/relationships/notesMaster" Target="/ppt/notesMasters/notesMaster1.xml" Id="Rd98d5d13a5d844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86205b04504b29" /><Relationship Type="http://schemas.openxmlformats.org/officeDocument/2006/relationships/notesMaster" Target="/ppt/notesMasters/notesMaster1.xml" Id="Ra0575a24cf2746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db65d4901b4014" /><Relationship Type="http://schemas.openxmlformats.org/officeDocument/2006/relationships/notesMaster" Target="/ppt/notesMasters/notesMaster1.xml" Id="Rfc0d1cb445c145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ca552eb2c54c4e" /><Relationship Type="http://schemas.openxmlformats.org/officeDocument/2006/relationships/notesMaster" Target="/ppt/notesMasters/notesMaster1.xml" Id="Ra10e7097013b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Stage counts: zero_variant=345, transition=75, post_work=470. For the 345 original zero regimes only, use guarantees&lt;0 and control boundaries +/-1/3. Other records retain their editorial regime. Shares are within each stage; the three stages are separate cross-sectional samples, not a measured trajectory.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Strong dystopia U&lt;=-0.5, strong utopia U&gt;=0.5, central band -0.5&lt;U&lt;0.5. Post-work vs partial differences remain after medium controls and equal recognition-group weighting: strong utopia +13.2 percentage points (q&lt;0.001), strong dystopia +12.4 points (q&lt;0.05). Thresholds are descriptive editorial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Guarantees here use the same sign rule for all stages: axis.guarantees&lt;0. Cells: zero no 316 U=-.506, yes 29 U=.055; partial no49 U=-.242, yes26 U=.112; full no155 U=-.642, yes315 U=.145. This is observational composition, not a causal transition effect.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Mean working share equals 1-axis.nonworking. Of 470 full-transition records, 341 have nonworking&lt;=.5, so at least half the scoped population works. 11 have nonworking&gt;=.95. Participation values are low-confidence editorial scenarios, not labour-market surveys.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Source transition-media-counts.csv. Web fiction has 29 rows but only 6 recognition groups; 23 of 29 belong to Orion’s Arm. This is a selected catalogue, not all fiction. Manga has only 18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Recognition groups approximate works/franchises, not a universal universe ontology. Positive group differences:60, negative23, tie1. Average equally weighted paired difference .358987, group bootstrap 5000 draws 95% [.2303,.4845]. Distinct societies can differ in population and chronology; these pairs are not randomized policy transitions.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WLS results from transition-analysis.json, models utopia_raw, utopia_media_adjusted, utopia_structural_adjusted. CIs are unadjusted 95% CR1 cluster intervals. Structural controls: security, control, control squared, nonworking, popularity, multi-label media. These include potential mediators and shared rating criteria, so coefficients are not causal transition effects. Within-group structural full transition coefficient -.091, CI[-.182,.001]. Saved axis intervals are wide and can alter these conditional coefficients.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Group-balanced popularity: .47838, .50385, .46735. Group scores repeat across their societies; the values are not audience percentages. WLS with medium controls: partial-zero .004[-.049,.057], full-zero .014[-.017,.044]; q&gt;.45. Overall group significance does not establish historical popularity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ID starwars-narkina5-cheap-labor-zero; status=zero_variant; U=-0.95; scope={"continuity":"Andor, first-season prison arc","period":"The functioning prison before the mass escape","population":"Living adult human prisoners","human_population_proxy":false,"exclusions":["Free Imperial citizens","Dead inmates as nonworkers","A whole-planet civilian economy"],"branch":null,"player_configurable":false}; rationale=Coerced or subordinated sentient workers bear the costs of the system; productive sophistication does not offset their loss of agency.</a:t>
            </a:r>
          </a:p>
          <a:p xmlns:a="http://schemas.openxmlformats.org/drawingml/2006/main">
            <a:r>
              <a:t>ID aria-aqua-terraformed-work-zero; status=zero_variant; U=0.75; scope={"continuity":"Shared terraforming and work premise only","period":"The recurring inhabited Aqua economy","population":"Living human Aqua residents","human_population_proxy":false,"exclusions":"Robot-supported general provision is not verified; the discovery claim is narrowed to technical habitat capacity.","branch":null,"player_configurable":false}; rationale=Shared provision, cooperation and meaningful human or person agency support a favorable assessment; useful work is not itself a disadvantage.</a:t>
            </a:r>
          </a:p>
          <a:p xmlns:a="http://schemas.openxmlformats.org/drawingml/2006/main">
            <a:r>
              <a:t>ID colossus-initial-machine-rule-zero; status=transition; U=-0.9; scope={"continuity":"1970 film, excluding novel sequels","period":"The implemented initial global machine-control order at the ending","population":"Living human population under Colossus–Guardian authority","human_population_proxy":false,"exclusions":["Novel sequels","An achieved universal floor inferred from a promise"],"branch":null,"player_configurable":false}; rationale=Restricted agency, enforced conformity or unaccountable control materially qualify or outweigh the benefits of technological provision.</a:t>
            </a:r>
          </a:p>
          <a:p xmlns:a="http://schemas.openxmlformats.org/drawingml/2006/main">
            <a:r>
              <a:t>ID transformers-one-restored-energon; status=transition; U=0.55; scope={"continuity":"2024 animated film ending","period":"The realized restoration and explicitly projected early reconstruction","population":"Active Cybertronian synthetic residents of Iacon","human_population_proxy":true,"exclusions":["An eternal peaceful future","Aligned-family prewar Cybertron"],"branch":null,"player_configurable":false,"person_proxy_kind":"active_synthetic_persons"}; rationale=A realized reform or explicitly selected projected alternative offers improvement, qualified by incomplete implementation and continuing uncertainty.</a:t>
            </a:r>
          </a:p>
          <a:p xmlns:a="http://schemas.openxmlformats.org/drawingml/2006/main">
            <a:r>
              <a:t>ID matrix-pod-humanity; status=post_work; U=-0.95; scope={"continuity":"The 1999 Matrix film continuity","period":"The operating pod system and late-twentieth-century simulation depicted in the first film","population":"Living human minds and bodies in machine-maintained pods","human_population_proxy":false,"exclusions":["Zion and freed crews","Dead bodies recycled as feed","Programs counted as humans","Later Analyst system or a liberated ending"],"branch":null,"player_configurable":false}; rationale=Physical maintenance sustains captives used by a controlling system; simulation does not offset denied consent, exit and bodily agency.</a:t>
            </a:r>
          </a:p>
          <a:p xmlns:a="http://schemas.openxmlformats.org/drawingml/2006/main">
            <a:r>
              <a:t>ID culture-main; status=post_work; U=0.9; scope={"continuity":"Iain M. Banks's prose Culture universe","period":"The mature Culture; ordinary civilian life rather than a wartime emergency","population":"Biological humanlike citizens, with AI citizens included in the account of governance","human_population_proxy":true,"exclusions":["Neighboring civilizations","People governed by Culture interventions outside the Culture"],"branch":null,"player_configurable":false}; rationale=Secure necessities, elective vocations and broad civic agency make ordinary Culture life strongly favorable; independent Minds and external interventions qualify perfection.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db857661240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e26548fd04a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b37b7961b4f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3e6da03534e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37be334d446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b2521164645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17FF10-B75D-4A65-B838-A73DA0A6A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F6D0FD-2FBD-43EF-A871-73285B44CE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FBD7F6-A78D-459D-8509-AB0F70DC5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4E2C4D-F821-431A-BE3E-3B11A5388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517805-6517-4461-84EF-4CBF194A6A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6FA67C-F7FE-4007-B1B9-AA61BCDC9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43FE6F-E0D5-430C-94B0-FEB5B2D2A2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BB3E95-29F1-413F-A560-D10CBD0DBB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07648E-BD8E-4F25-B048-9384F4756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88B9B1-F8E3-41D4-A804-FD2E0C9324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c586b7fe3449a9" /><Relationship Type="http://schemas.openxmlformats.org/officeDocument/2006/relationships/slideLayout" Target="/ppt/slideLayouts/slideLayout1.xml" Id="Rc53b6010bde14f39" /><Relationship Type="http://schemas.openxmlformats.org/officeDocument/2006/relationships/slideLayout" Target="/ppt/slideLayouts/slideLayout2.xml" Id="R2984de05f8b3438d" /><Relationship Type="http://schemas.openxmlformats.org/officeDocument/2006/relationships/slideLayout" Target="/ppt/slideLayouts/slideLayout3.xml" Id="Rfaedcd24ad2244c3" /><Relationship Type="http://schemas.openxmlformats.org/officeDocument/2006/relationships/slideLayout" Target="/ppt/slideLayouts/slideLayout4.xml" Id="Rcaf1a0da5b4b497d" /><Relationship Type="http://schemas.openxmlformats.org/officeDocument/2006/relationships/slideLayout" Target="/ppt/slideLayouts/slideLayout5.xml" Id="R5d50e934251f4be5" /><Relationship Type="http://schemas.openxmlformats.org/officeDocument/2006/relationships/slideLayout" Target="/ppt/slideLayouts/slideLayout6.xml" Id="Reaae13acfd664f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3b6010bde14f39"/>
    <p:sldLayoutId xmlns:r="http://schemas.openxmlformats.org/officeDocument/2006/relationships" id="2147483650" r:id="R2984de05f8b3438d"/>
    <p:sldLayoutId xmlns:r="http://schemas.openxmlformats.org/officeDocument/2006/relationships" id="2147483651" r:id="Rfaedcd24ad2244c3"/>
    <p:sldLayoutId xmlns:r="http://schemas.openxmlformats.org/officeDocument/2006/relationships" id="2147483652" r:id="Rcaf1a0da5b4b497d"/>
    <p:sldLayoutId xmlns:r="http://schemas.openxmlformats.org/officeDocument/2006/relationships" id="2147483653" r:id="R5d50e934251f4be5"/>
    <p:sldLayoutId xmlns:r="http://schemas.openxmlformats.org/officeDocument/2006/relationships" id="2147483654" r:id="Reaae13acfd664f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e1c1e44164640" /><Relationship Type="http://schemas.openxmlformats.org/officeDocument/2006/relationships/chart" Target="/ppt/slides/charts/chart1.xml" Id="R2afdd0db9da74dde" /><Relationship Type="http://schemas.openxmlformats.org/officeDocument/2006/relationships/chart" Target="/ppt/slides/charts/chart2.xml" Id="Rf3c2e3c2efe141cc" /><Relationship Type="http://schemas.openxmlformats.org/officeDocument/2006/relationships/chart" Target="/ppt/slides/charts/chart3.xml" Id="R99529f4c2cd04e58" /><Relationship Type="http://schemas.openxmlformats.org/officeDocument/2006/relationships/notesSlide" Target="/ppt/notesSlides/notesSlide1.xml" Id="Rec47c34b7e6a49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34b6258554613" /><Relationship Type="http://schemas.openxmlformats.org/officeDocument/2006/relationships/chart" Target="/ppt/slides/charts/chart4.xml" Id="R6ffcc80defe3462d" /><Relationship Type="http://schemas.openxmlformats.org/officeDocument/2006/relationships/notesSlide" Target="/ppt/notesSlides/notesSlide2.xml" Id="R3c038b4c200f44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e226c6edf6433f" /><Relationship Type="http://schemas.openxmlformats.org/officeDocument/2006/relationships/chart" Target="/ppt/slides/charts/chart5.xml" Id="Rfa156425e2bb43f0" /><Relationship Type="http://schemas.openxmlformats.org/officeDocument/2006/relationships/chart" Target="/ppt/slides/charts/chart6.xml" Id="R89f5377889a446fb" /><Relationship Type="http://schemas.openxmlformats.org/officeDocument/2006/relationships/notesSlide" Target="/ppt/notesSlides/notesSlide3.xml" Id="R0cfc7da036a941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75447a7b254b42" /><Relationship Type="http://schemas.openxmlformats.org/officeDocument/2006/relationships/chart" Target="/ppt/slides/charts/chart7.xml" Id="R7a48103db7964bc4" /><Relationship Type="http://schemas.openxmlformats.org/officeDocument/2006/relationships/notesSlide" Target="/ppt/notesSlides/notesSlide4.xml" Id="R515c0d60f53845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9e8a7410f4f6c" /><Relationship Type="http://schemas.openxmlformats.org/officeDocument/2006/relationships/chart" Target="/ppt/slides/charts/chart8.xml" Id="R9ef9b97e66b64c70" /><Relationship Type="http://schemas.openxmlformats.org/officeDocument/2006/relationships/notesSlide" Target="/ppt/notesSlides/notesSlide5.xml" Id="R2b85806a6c9b46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204d084564de5" /><Relationship Type="http://schemas.openxmlformats.org/officeDocument/2006/relationships/chart" Target="/ppt/slides/charts/chart9.xml" Id="R8b6689cfb1d34f26" /><Relationship Type="http://schemas.openxmlformats.org/officeDocument/2006/relationships/notesSlide" Target="/ppt/notesSlides/notesSlide6.xml" Id="Re87a88e33b574c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996fda6b642c3" /><Relationship Type="http://schemas.openxmlformats.org/officeDocument/2006/relationships/notesSlide" Target="/ppt/notesSlides/notesSlide7.xml" Id="Rfde3db66a6624b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bd4fc2cb24331" /><Relationship Type="http://schemas.openxmlformats.org/officeDocument/2006/relationships/chart" Target="/ppt/slides/charts/chart10.xml" Id="R4c2b0841f2d34671" /><Relationship Type="http://schemas.openxmlformats.org/officeDocument/2006/relationships/notesSlide" Target="/ppt/notesSlides/notesSlide8.xml" Id="Ra210e7ecc0904e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d8c654bd14bb4" /><Relationship Type="http://schemas.openxmlformats.org/officeDocument/2006/relationships/chart" Target="/ppt/slides/charts/chart11.xml" Id="R25ecbbb3fb7c455d" /><Relationship Type="http://schemas.openxmlformats.org/officeDocument/2006/relationships/notesSlide" Target="/ppt/notesSlides/notesSlide9.xml" Id="R3bc753112a7d4c2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Трудовые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Ref>
              <c:f>'Chart Data'!$A$2:$A$7</c:f>
              <c:strCache>
                <c:ptCount val="6"/>
                <c:pt idx="0">
                  <c:v>1  Элиты с гарантиями</c:v>
                </c:pt>
                <c:pt idx="1">
                  <c:v>2  Элиты без гарантий</c:v>
                </c:pt>
                <c:pt idx="2">
                  <c:v>3  Распределённая власть с гарантиями</c:v>
                </c:pt>
                <c:pt idx="3">
                  <c:v>4  Распределённые активы без гарантий</c:v>
                </c:pt>
                <c:pt idx="4">
                  <c:v>5  Автономная система с гарантиями</c:v>
                </c:pt>
                <c:pt idx="5">
                  <c:v>6  Автономная система без гарантий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17</c:v>
                </c:pt>
                <c:pt idx="1">
                  <c:v>226</c:v>
                </c:pt>
                <c:pt idx="2">
                  <c:v>11</c:v>
                </c:pt>
                <c:pt idx="3">
                  <c:v>42</c:v>
                </c:pt>
                <c:pt idx="4">
                  <c:v>1</c:v>
                </c:pt>
                <c:pt idx="5">
                  <c:v>48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Частичный переход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Ref>
              <c:f>'Chart Data'!$A$2:$A$7</c:f>
              <c:strCache>
                <c:ptCount val="6"/>
                <c:pt idx="0">
                  <c:v>1  Элиты с гарантиями</c:v>
                </c:pt>
                <c:pt idx="1">
                  <c:v>2  Элиты без гарантий</c:v>
                </c:pt>
                <c:pt idx="2">
                  <c:v>3  Распределённая власть с гарантиями</c:v>
                </c:pt>
                <c:pt idx="3">
                  <c:v>4  Распределённые активы без гарантий</c:v>
                </c:pt>
                <c:pt idx="4">
                  <c:v>5  Автономная система с гарантиями</c:v>
                </c:pt>
                <c:pt idx="5">
                  <c:v>6  Автономная система без гарантий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11</c:v>
                </c:pt>
                <c:pt idx="1">
                  <c:v>29</c:v>
                </c:pt>
                <c:pt idx="2">
                  <c:v>12</c:v>
                </c:pt>
                <c:pt idx="3">
                  <c:v>10</c:v>
                </c:pt>
                <c:pt idx="4">
                  <c:v>5</c:v>
                </c:pt>
                <c:pt idx="5">
                  <c:v>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Посттрудовые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Ref>
              <c:f>'Chart Data'!$A$2:$A$7</c:f>
              <c:strCache>
                <c:ptCount val="6"/>
                <c:pt idx="0">
                  <c:v>1  Элиты с гарантиями</c:v>
                </c:pt>
                <c:pt idx="1">
                  <c:v>2  Элиты без гарантий</c:v>
                </c:pt>
                <c:pt idx="2">
                  <c:v>3  Распределённая власть с гарантиями</c:v>
                </c:pt>
                <c:pt idx="3">
                  <c:v>4  Распределённые активы без гарантий</c:v>
                </c:pt>
                <c:pt idx="4">
                  <c:v>5  Автономная система с гарантиями</c:v>
                </c:pt>
                <c:pt idx="5">
                  <c:v>6  Автономная система без гарантий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115</c:v>
                </c:pt>
                <c:pt idx="1">
                  <c:v>80</c:v>
                </c:pt>
                <c:pt idx="2">
                  <c:v>116</c:v>
                </c:pt>
                <c:pt idx="3">
                  <c:v>11</c:v>
                </c:pt>
                <c:pt idx="4">
                  <c:v>89</c:v>
                </c:pt>
                <c:pt idx="5">
                  <c:v>59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Сильная дистопия</c:v>
          </c:tx>
          <c:spPr>
            <a:solidFill xmlns:a="http://schemas.openxmlformats.org/drawingml/2006/main">
              <a:srgbClr val="AD654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Трудовые, n = 345</c:v>
                </c:pt>
                <c:pt idx="1">
                  <c:v>Частичный переход, n = 75</c:v>
                </c:pt>
                <c:pt idx="2">
                  <c:v>Посттрудовые, n = 470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0.5217391304</c:v>
                </c:pt>
                <c:pt idx="1">
                  <c:v>0.2266666667</c:v>
                </c:pt>
                <c:pt idx="2">
                  <c:v>0.3319148936</c:v>
                </c:pt>
              </c:numCache>
            </c:numRef>
          </c:val>
        </c:ser>
        <c:ser>
          <c:idx val="1"/>
          <c:order val="1"/>
          <c:tx>
            <c:v>Промежуточные оценки</c:v>
          </c:tx>
          <c:spPr>
            <a:solidFill xmlns:a="http://schemas.openxmlformats.org/drawingml/2006/main">
              <a:srgbClr val="D7E0DF"/>
            </a:solidFill>
          </c:spPr>
          <c:invertIfNegative val="0"/>
          <c:dLbls>
            <c:numFmt formatCode="0%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 b="1">
                    <a:solidFill>
                      <a:srgbClr val="223A4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Трудовые, n = 345</c:v>
                </c:pt>
                <c:pt idx="1">
                  <c:v>Частичный переход, n = 75</c:v>
                </c:pt>
                <c:pt idx="2">
                  <c:v>Посттрудовые, n = 470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0.4637681159</c:v>
                </c:pt>
                <c:pt idx="1">
                  <c:v>0.7333333333</c:v>
                </c:pt>
                <c:pt idx="2">
                  <c:v>0.4787234043</c:v>
                </c:pt>
              </c:numCache>
            </c:numRef>
          </c:val>
        </c:ser>
        <c:ser>
          <c:idx val="2"/>
          <c:order val="2"/>
          <c:tx>
            <c:v>Сильная утопия</c:v>
          </c:tx>
          <c:spPr>
            <a:solidFill xmlns:a="http://schemas.openxmlformats.org/drawingml/2006/main">
              <a:srgbClr val="277F75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</c:dLbl>
          </c:dLbls>
          <c:cat>
            <c:strRef>
              <c:f>'Chart Data'!$E$2:$E$4</c:f>
              <c:strCache>
                <c:ptCount val="3"/>
                <c:pt idx="0">
                  <c:v>Трудовые, n = 345</c:v>
                </c:pt>
                <c:pt idx="1">
                  <c:v>Частичный переход, n = 75</c:v>
                </c:pt>
                <c:pt idx="2">
                  <c:v>Посттрудовые, n = 470</c:v>
                </c:pt>
              </c:strCache>
            </c:strRef>
          </c:cat>
          <c:val>
            <c:numRef>
              <c:f>'Chart Data'!$F$2:$F$4</c:f>
              <c:numCache>
                <c:formatCode>0%</c:formatCode>
                <c:ptCount val="3"/>
                <c:pt idx="0">
                  <c:v>0.0144927536</c:v>
                </c:pt>
                <c:pt idx="1">
                  <c:v>0.04</c:v>
                </c:pt>
                <c:pt idx="2">
                  <c:v>0.1893617021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23A4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Гарантии</c:v>
          </c:tx>
          <c:spPr>
            <a:solidFill xmlns:a="http://schemas.openxmlformats.org/drawingml/2006/main">
              <a:srgbClr val="277F7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Трудовые</c:v>
                </c:pt>
                <c:pt idx="1">
                  <c:v>Частичный переход</c:v>
                </c:pt>
                <c:pt idx="2">
                  <c:v>Посттрудовые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0.084057971</c:v>
                </c:pt>
                <c:pt idx="1">
                  <c:v>0.3466666667</c:v>
                </c:pt>
                <c:pt idx="2">
                  <c:v>0.670212766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Без гарантий</c:v>
          </c:tx>
          <c:spPr>
            <a:solidFill xmlns:a="http://schemas.openxmlformats.org/drawingml/2006/main">
              <a:srgbClr val="AD654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Трудовые</c:v>
                </c:pt>
                <c:pt idx="1">
                  <c:v>Частичный переход</c:v>
                </c:pt>
                <c:pt idx="2">
                  <c:v>Посттрудовые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-0.5055379747</c:v>
                </c:pt>
                <c:pt idx="1">
                  <c:v>-0.2418367347</c:v>
                </c:pt>
                <c:pt idx="2">
                  <c:v>-0.6419354839</c:v>
                </c:pt>
              </c:numCache>
            </c:numRef>
          </c:val>
        </c:ser>
        <c:ser>
          <c:idx val="1"/>
          <c:order val="1"/>
          <c:tx>
            <c:v>С гарантиями</c:v>
          </c:tx>
          <c:spPr>
            <a:solidFill xmlns:a="http://schemas.openxmlformats.org/drawingml/2006/main">
              <a:srgbClr val="277F75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Трудовые</c:v>
                </c:pt>
                <c:pt idx="1">
                  <c:v>Частичный переход</c:v>
                </c:pt>
                <c:pt idx="2">
                  <c:v>Посттрудовые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0.0551724138</c:v>
                </c:pt>
                <c:pt idx="1">
                  <c:v>0.1115384615</c:v>
                </c:pt>
                <c:pt idx="2">
                  <c:v>0.1449206349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-0.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23A4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Средняя доля работающих</c:v>
          </c:tx>
          <c:spPr>
            <a:solidFill xmlns:a="http://schemas.openxmlformats.org/drawingml/2006/main">
              <a:srgbClr val="6874B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Трудовые, n = 345</c:v>
                </c:pt>
                <c:pt idx="1">
                  <c:v>Частичный переход, n = 75</c:v>
                </c:pt>
                <c:pt idx="2">
                  <c:v>Посттрудовые, n = 470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0.7690917874</c:v>
                </c:pt>
                <c:pt idx="1">
                  <c:v>0.6586666667</c:v>
                </c:pt>
                <c:pt idx="2">
                  <c:v>0.5872553191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Трудовые</c:v>
          </c:tx>
          <c:spPr>
            <a:solidFill xmlns:a="http://schemas.openxmlformats.org/drawingml/2006/main">
              <a:srgbClr val="7B8896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</c:dLbls>
          <c:cat>
            <c:strRef>
              <c:f>'Chart Data'!$A$2:$A$9</c:f>
              <c:strCache>
                <c:ptCount val="8"/>
                <c:pt idx="0">
                  <c:v>Книги, n = 362</c:v>
                </c:pt>
                <c:pt idx="1">
                  <c:v>Аниме, n = 73</c:v>
                </c:pt>
                <c:pt idx="2">
                  <c:v>Манга, n = 18</c:v>
                </c:pt>
                <c:pt idx="3">
                  <c:v>Игры, n = 139</c:v>
                </c:pt>
                <c:pt idx="4">
                  <c:v>Телевидение, n = 108</c:v>
                </c:pt>
                <c:pt idx="5">
                  <c:v>Кино, n = 89</c:v>
                </c:pt>
                <c:pt idx="6">
                  <c:v>Комиксы, n = 38</c:v>
                </c:pt>
                <c:pt idx="7">
                  <c:v>Веб-проза, n = 29</c:v>
                </c:pt>
              </c:strCache>
            </c:strRef>
          </c:cat>
          <c:val>
            <c:numRef>
              <c:f>'Chart Data'!$B$2:$B$9</c:f>
              <c:numCache>
                <c:formatCode>0%</c:formatCode>
                <c:ptCount val="8"/>
                <c:pt idx="0">
                  <c:v>0.3784530387</c:v>
                </c:pt>
                <c:pt idx="1">
                  <c:v>0.4794520548</c:v>
                </c:pt>
                <c:pt idx="2">
                  <c:v>0.6666666667</c:v>
                </c:pt>
                <c:pt idx="3">
                  <c:v>0.4604316547</c:v>
                </c:pt>
                <c:pt idx="4">
                  <c:v>0.3888888889</c:v>
                </c:pt>
                <c:pt idx="5">
                  <c:v>0.4269662921</c:v>
                </c:pt>
                <c:pt idx="6">
                  <c:v>0.2631578947</c:v>
                </c:pt>
                <c:pt idx="7">
                  <c:v>0.0689655172</c:v>
                </c:pt>
              </c:numCache>
            </c:numRef>
          </c:val>
        </c:ser>
        <c:ser>
          <c:idx val="1"/>
          <c:order val="1"/>
          <c:tx>
            <c:v>Частичный переход</c:v>
          </c:tx>
          <c:spPr>
            <a:solidFill xmlns:a="http://schemas.openxmlformats.org/drawingml/2006/main">
              <a:srgbClr val="D69C46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</c:dLbl>
          </c:dLbls>
          <c:cat>
            <c:strRef>
              <c:f>'Chart Data'!$C$2:$C$9</c:f>
              <c:strCache>
                <c:ptCount val="8"/>
                <c:pt idx="0">
                  <c:v>Книги, n = 362</c:v>
                </c:pt>
                <c:pt idx="1">
                  <c:v>Аниме, n = 73</c:v>
                </c:pt>
                <c:pt idx="2">
                  <c:v>Манга, n = 18</c:v>
                </c:pt>
                <c:pt idx="3">
                  <c:v>Игры, n = 139</c:v>
                </c:pt>
                <c:pt idx="4">
                  <c:v>Телевидение, n = 108</c:v>
                </c:pt>
                <c:pt idx="5">
                  <c:v>Кино, n = 89</c:v>
                </c:pt>
                <c:pt idx="6">
                  <c:v>Комиксы, n = 38</c:v>
                </c:pt>
                <c:pt idx="7">
                  <c:v>Веб-проза, n = 29</c:v>
                </c:pt>
              </c:strCache>
            </c:strRef>
          </c:cat>
          <c:val>
            <c:numRef>
              <c:f>'Chart Data'!$D$2:$D$9</c:f>
              <c:numCache>
                <c:formatCode>0%</c:formatCode>
                <c:ptCount val="8"/>
                <c:pt idx="0">
                  <c:v>0.0994475138</c:v>
                </c:pt>
                <c:pt idx="1">
                  <c:v>0.0684931507</c:v>
                </c:pt>
                <c:pt idx="2">
                  <c:v>0.1111111111</c:v>
                </c:pt>
                <c:pt idx="3">
                  <c:v>0.0791366906</c:v>
                </c:pt>
                <c:pt idx="4">
                  <c:v>0.037037037</c:v>
                </c:pt>
                <c:pt idx="5">
                  <c:v>0.0898876404</c:v>
                </c:pt>
                <c:pt idx="6">
                  <c:v>0.0789473684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v>Посттрудовые</c:v>
          </c:tx>
          <c:spPr>
            <a:solidFill xmlns:a="http://schemas.openxmlformats.org/drawingml/2006/main">
              <a:srgbClr val="277F75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</c:dLbls>
          <c:cat>
            <c:strRef>
              <c:f>'Chart Data'!$E$2:$E$9</c:f>
              <c:strCache>
                <c:ptCount val="8"/>
                <c:pt idx="0">
                  <c:v>Книги, n = 362</c:v>
                </c:pt>
                <c:pt idx="1">
                  <c:v>Аниме, n = 73</c:v>
                </c:pt>
                <c:pt idx="2">
                  <c:v>Манга, n = 18</c:v>
                </c:pt>
                <c:pt idx="3">
                  <c:v>Игры, n = 139</c:v>
                </c:pt>
                <c:pt idx="4">
                  <c:v>Телевидение, n = 108</c:v>
                </c:pt>
                <c:pt idx="5">
                  <c:v>Кино, n = 89</c:v>
                </c:pt>
                <c:pt idx="6">
                  <c:v>Комиксы, n = 38</c:v>
                </c:pt>
                <c:pt idx="7">
                  <c:v>Веб-проза, n = 29</c:v>
                </c:pt>
              </c:strCache>
            </c:strRef>
          </c:cat>
          <c:val>
            <c:numRef>
              <c:f>'Chart Data'!$F$2:$F$9</c:f>
              <c:numCache>
                <c:formatCode>0%</c:formatCode>
                <c:ptCount val="8"/>
                <c:pt idx="0">
                  <c:v>0.5220994475</c:v>
                </c:pt>
                <c:pt idx="1">
                  <c:v>0.4520547945</c:v>
                </c:pt>
                <c:pt idx="2">
                  <c:v>0.2222222222</c:v>
                </c:pt>
                <c:pt idx="3">
                  <c:v>0.4604316547</c:v>
                </c:pt>
                <c:pt idx="4">
                  <c:v>0.5740740741</c:v>
                </c:pt>
                <c:pt idx="5">
                  <c:v>0.4831460674</c:v>
                </c:pt>
                <c:pt idx="6">
                  <c:v>0.6578947368</c:v>
                </c:pt>
                <c:pt idx="7">
                  <c:v>0.9310344828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23A4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Групп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277F7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654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B8896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Посттрудовые выше</c:v>
                </c:pt>
                <c:pt idx="1">
                  <c:v>Трудовые выше</c:v>
                </c:pt>
                <c:pt idx="2">
                  <c:v>Одинаковая средняя U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60</c:v>
                </c:pt>
                <c:pt idx="1">
                  <c:v>23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Узнаваемость</c:v>
          </c:tx>
          <c:spPr>
            <a:solidFill xmlns:a="http://schemas.openxmlformats.org/drawingml/2006/main">
              <a:srgbClr val="6874B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Трудовые, n = 345</c:v>
                </c:pt>
                <c:pt idx="1">
                  <c:v>Частичный переход, n = 75</c:v>
                </c:pt>
                <c:pt idx="2">
                  <c:v>Посттрудовые, n = 470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0.4783834586</c:v>
                </c:pt>
                <c:pt idx="1">
                  <c:v>0.5038461538</c:v>
                </c:pt>
                <c:pt idx="2">
                  <c:v>0.4673539519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Утопичность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AD654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77F7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D654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77F7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AD654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77F75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Val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Val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Val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1"/>
            </c:dLbl>
          </c:dLbls>
          <c:cat>
            <c:strRef>
              <c:f>'Chart Data'!$A$2:$A$7</c:f>
              <c:strCache>
                <c:ptCount val="6"/>
                <c:pt idx="0">
                  <c:v>Трудовые: Narkina 5</c:v>
                </c:pt>
                <c:pt idx="1">
                  <c:v>Трудовые: Aria / Аква</c:v>
                </c:pt>
                <c:pt idx="2">
                  <c:v>Частичный: Colossus</c:v>
                </c:pt>
                <c:pt idx="3">
                  <c:v>Частичный: Iacon после восстановления</c:v>
                </c:pt>
                <c:pt idx="4">
                  <c:v>Посттрудовые: люди в Матрице</c:v>
                </c:pt>
                <c:pt idx="5">
                  <c:v>Посттрудовые: Культура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-0.95</c:v>
                </c:pt>
                <c:pt idx="1">
                  <c:v>0.75</c:v>
                </c:pt>
                <c:pt idx="2">
                  <c:v>-0.9</c:v>
                </c:pt>
                <c:pt idx="3">
                  <c:v>0.55</c:v>
                </c:pt>
                <c:pt idx="4">
                  <c:v>-0.95</c:v>
                </c:pt>
                <c:pt idx="5">
                  <c:v>0.9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1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42B8B-A21C-411B-9480-01BB8010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Уклады на трёх стадиях перехода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DF3E9-96AF-4384-A86E-EC71FAB1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Стадия описывает роль труда в распределении благ. Цвет показывает устройство общества.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6F36C-A8BC-4102-B0F0-5166BA9E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B495B-FDDB-4E86-BDB9-2EAAF6BD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D6737-3173-417E-A944-1F0D7DEA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B8896"/>
                </a:solidFill>
                <a:latin typeface="Arial"/>
                <a:ea typeface="Arial"/>
                <a:cs typeface="Arial"/>
              </a:rPr>
              <a:t>Трудовые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03D14-0647-4829-B39D-9B96F336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345 обществ, 38,8% базы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7AE516E-777F-4D31-8F29-C95AC1366017}"/>
              </a:ext>
            </a:extLst>
          </p:cNvPr>
          <p:cNvGraphicFramePr/>
          <p:nvPr/>
        </p:nvGraphicFramePr>
        <p:xfrm>
          <a:off xmlns:a="http://schemas.openxmlformats.org/drawingml/2006/main" x="61912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fdd0db9da74dd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64D74-8F55-4DED-A358-A10E2C2D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Частичный переход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06E07-DF6E-4137-AABA-8AFE8A52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75 обществ, 8,4% базы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3BE51D33-3469-4860-9B7F-2DC420CCFB21}"/>
              </a:ext>
            </a:extLst>
          </p:cNvPr>
          <p:cNvGraphicFramePr/>
          <p:nvPr/>
        </p:nvGraphicFramePr>
        <p:xfrm>
          <a:off xmlns:a="http://schemas.openxmlformats.org/drawingml/2006/main" x="547687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c2e3c2efe141cc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6BE0C-96B5-4AD9-9020-AD8B2680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Посттрудовые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6CFA2-EA33-4B6D-89E3-1649D124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470 обществ, 52,8% базы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6F8BF5E9-8FB0-4190-BF7B-AD1B32F5F8E7}"/>
              </a:ext>
            </a:extLst>
          </p:cNvPr>
          <p:cNvGraphicFramePr/>
          <p:nvPr/>
        </p:nvGraphicFramePr>
        <p:xfrm>
          <a:off xmlns:a="http://schemas.openxmlformats.org/drawingml/2006/main" x="1033462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529f4c2cd04e58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A0A12-910A-445D-9DA8-7E8F5399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38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1  Элиты с гарантиями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836A7-624A-40FB-9C85-E61388F9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638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D654D"/>
                </a:solidFill>
                <a:latin typeface="Arial"/>
                <a:ea typeface="Arial"/>
                <a:cs typeface="Arial"/>
              </a:rPr>
              <a:t>2  Элиты без гарантий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12506-AA40-4A60-BFEB-3CC98EA2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9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3  Распределённая власть с гарантиями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06B94-C331-47C6-BCF9-11EC0B0B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019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C9D85"/>
                </a:solidFill>
                <a:latin typeface="Arial"/>
                <a:ea typeface="Arial"/>
                <a:cs typeface="Arial"/>
              </a:rPr>
              <a:t>4  Распределённые активы без гарантий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C1ECD-D96E-4A97-986B-783D934E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0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874B5"/>
                </a:solidFill>
                <a:latin typeface="Arial"/>
                <a:ea typeface="Arial"/>
                <a:cs typeface="Arial"/>
              </a:rPr>
              <a:t>5  Автономная система с гарантиями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718BD-F746-46CB-BFFD-49D13908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00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C5D91"/>
                </a:solidFill>
                <a:latin typeface="Arial"/>
                <a:ea typeface="Arial"/>
                <a:cs typeface="Arial"/>
              </a:rPr>
              <a:t>6  Автономная система без гарантий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63ADB-22ED-4718-BFDF-79826D6C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762875"/>
            <a:ext cx="1400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У трудовых обществ уклад задан координатами. Границы: гарантии 0, контроль −⅓ и +⅓.</a:t>
            </a:r>
          </a:p>
        </p:txBody>
      </p:sp>
    </p:spTree>
    <p:extLst>
      <p:ext uri="{BB962C8B-B14F-4D97-AF65-F5344CB8AC3E}">
        <p14:creationId xmlns:p14="http://schemas.microsoft.com/office/powerpoint/2010/main" val="1751783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35A82-59EA-4ABD-B650-45517B73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Среднее скрывает разные доли крайних исходов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0AFB-C4A9-4924-ABA7-5C48E90A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Частичный и полный переход имеют среднюю U около −0,12, но разные распределения.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25D41-9A93-4479-A1F5-F3FFD630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2A690-53BD-47D7-AE93-DAAAC10E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8033E69-4B4E-4A45-9AC3-B502913D810F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1076325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fcc80defe3462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74A75-F1F5-467A-A068-5E63E4E4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998AB-8694-40DB-999E-AE10EC87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0992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сильных утопий при полном переходе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511B9-188D-4557-B22C-5D005055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10125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B5886-71FF-4ADE-8089-6798FB6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734050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сильных утопий при частичном переходе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BC131-09FF-42AD-857B-D4DDF530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7710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Сильная дистопия: U ≤ −0,5. Сильная утопия: U ≥ +0,5. Центральная зона включает смешанные и неясные случаи.</a:t>
            </a:r>
          </a:p>
        </p:txBody>
      </p:sp>
    </p:spTree>
    <p:extLst>
      <p:ext uri="{BB962C8B-B14F-4D97-AF65-F5344CB8AC3E}">
        <p14:creationId xmlns:p14="http://schemas.microsoft.com/office/powerpoint/2010/main" val="1170309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46DF2-E668-4377-8561-B6E67C9A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Гарантии различают исходы при любой стадии перехода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B1BDF-98F6-441C-9588-9E3BF3BE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При полном переходе гарантии встречаются чаще, а их отсутствие связано с самой низкой средней 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71E0F-143A-4821-A913-9FF0B2D9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F59FD-2C94-4C4C-B30D-BD132407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8E349-89A7-4518-8598-8CC9138B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633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Доля обществ с гарантиями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93E9086-E027-435F-BA60-0C8A333FCB07}"/>
              </a:ext>
            </a:extLst>
          </p:cNvPr>
          <p:cNvGraphicFramePr/>
          <p:nvPr/>
        </p:nvGraphicFramePr>
        <p:xfrm>
          <a:off xmlns:a="http://schemas.openxmlformats.org/drawingml/2006/main" x="619125" y="2590800"/>
          <a:ext xmlns:a="http://schemas.openxmlformats.org/drawingml/2006/main" cx="633412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156425e2bb43f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ECB93-6495-48E8-90FF-F983EF68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764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Средняя утопичность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95E08AD1-96DB-44B4-B7D2-3CEE5060EA28}"/>
              </a:ext>
            </a:extLst>
          </p:cNvPr>
          <p:cNvGraphicFramePr/>
          <p:nvPr/>
        </p:nvGraphicFramePr>
        <p:xfrm>
          <a:off xmlns:a="http://schemas.openxmlformats.org/drawingml/2006/main" x="7953375" y="2590800"/>
          <a:ext xmlns:a="http://schemas.openxmlformats.org/drawingml/2006/main" cx="666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f5377889a446f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5468B-B4C6-4FA9-A74D-B2D1BDB0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9913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Полный переход без гарантий: U = −0,64. Трудовая зависимость без гарантий: U = −0,51.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B6C62-C826-4E17-88EA-17BCE0C0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43800"/>
            <a:ext cx="1400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Гарантии на этом слайде означают axis.guarantees &lt; 0. Все ячейки имеют не менее 26 записей.</a:t>
            </a:r>
          </a:p>
        </p:txBody>
      </p:sp>
    </p:spTree>
    <p:extLst>
      <p:ext uri="{BB962C8B-B14F-4D97-AF65-F5344CB8AC3E}">
        <p14:creationId xmlns:p14="http://schemas.microsoft.com/office/powerpoint/2010/main" val="963992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539F5-584F-4CCB-B850-DA040171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Посттрудовые общества сохраняют массовую работу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9E86A-749B-4833-A681-79496DD1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В разметке работа включает добровольное творчество, заботу, исследования и обязательные задания.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5E84B-1038-49D7-9F48-DCEA1E2F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73BD4-B8F5-41F4-A8E0-18AD85E8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DC848F9-DD63-4E45-A4CA-62877FED5782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9525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48103db7964bc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18A4B-D878-49A4-B87A-00E15FA3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73%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4C703-3AEC-4E1C-A031-C62C76A6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09925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посттрудовых обществ: работает хотя бы половина населения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45B72-FE2E-4B40-B556-FD4A2F8F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9587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11 из 470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4D349-2739-437A-B765-8BE80EA9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198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имеют оценку неработающих 95% и выше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2AD13-72AB-4A45-AF5F-47ED924A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81850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Переход означает, что труд перестал быть главным каналом получения благ. Участие в деятельности оценивается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952716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8B52C-A541-42AA-BEB3-7E0A8037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Доля состоявшегося перехода различается между медиа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271D7-3416-4148-8175-17C6A987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Теги медиа пересекаются. Размер выборки указан рядом с каждой строкой.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A9565-6775-4C62-A817-12A19201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B795F-4B4C-4E47-8422-D8B2B45C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9C8FEF8-88F6-4A5B-B937-A27EF5162E57}"/>
              </a:ext>
            </a:extLst>
          </p:cNvPr>
          <p:cNvGraphicFramePr/>
          <p:nvPr/>
        </p:nvGraphicFramePr>
        <p:xfrm>
          <a:off xmlns:a="http://schemas.openxmlformats.org/drawingml/2006/main" x="619125" y="2066925"/>
          <a:ext xmlns:a="http://schemas.openxmlformats.org/drawingml/2006/main" cx="14001750" cy="5048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f9b97e66b64c7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25608-2F92-4D3F-AD11-617F4525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05700"/>
            <a:ext cx="1400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Веб-проза: 27 из 29 обществ прошли переход, но 23 записи принадлежат Orion’s Arm. У манги всего 18 записей.</a:t>
            </a:r>
          </a:p>
        </p:txBody>
      </p:sp>
    </p:spTree>
    <p:extLst>
      <p:ext uri="{BB962C8B-B14F-4D97-AF65-F5344CB8AC3E}">
        <p14:creationId xmlns:p14="http://schemas.microsoft.com/office/powerpoint/2010/main" val="7429612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BAF95-D0F0-4BFB-95D3-7D518F5E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Сравнение обществ внутри одной группы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414EE-E9B7-4977-BB1B-2B331F07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В 60 из 84 групп посттрудовые общества имеют более высокую среднюю U, чем трудовые.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6A775-513A-4FB9-AB5F-0798B14B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5985F-2290-4060-B351-6D99A5FC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F5A1F9E-1959-4BA1-9D82-9B2A30C04F32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9048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6689cfb1d34f2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7635F-1402-4E3F-9B4F-BF5464F1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3837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+0,36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A25BE-9776-4139-9712-4F6E3D5B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6230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средняя разница U между посттрудовыми и трудовыми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14C55-5A2D-4D8C-9020-14EE3A2F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95%-ный интервал</a:t>
            </a:r>
          </a:p>
          <a:p xmlns:a="http://schemas.openxmlformats.org/drawingml/2006/main">
            <a: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[+0,23; +0,48]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DD240-56D1-4E2D-8139-3AC3C278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24700"/>
            <a:ext cx="1400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Одна франшиза может показывать противоположные модели. Сравнение внутри группы ослабляет влияние известности и медиа.</a:t>
            </a:r>
          </a:p>
        </p:txBody>
      </p:sp>
    </p:spTree>
    <p:extLst>
      <p:ext uri="{BB962C8B-B14F-4D97-AF65-F5344CB8AC3E}">
        <p14:creationId xmlns:p14="http://schemas.microsoft.com/office/powerpoint/2010/main" val="2124442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37D52-1393-406A-9EED-95E49DAA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Связь стадии с утопичностью зависит от состава сравнения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685CA-44BD-4362-8380-8A0E5C95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Разница U с трудовыми обществами. Веса групп одинаковы, ошибки учитывают зависимость внутри группы.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BEA31-FC6E-4236-8E01-AD295177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87DD6-6496-4340-9E0A-6D4CCCD1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B04AA-8A3A-4AD4-9894-C168F12F8F6A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1400175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905250"/>
                <a:gridCol w="3905250"/>
              </a:tblGrid>
              <a:tr h="619125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Условия сравнения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3E4"/>
                      </a:solidFill>
                      <a:prstDash val="solid"/>
                    </a:lnL>
                    <a:lnR w="9525">
                      <a:solidFill>
                        <a:srgbClr val="DAE3E4"/>
                      </a:solidFill>
                      <a:prstDash val="solid"/>
                    </a:lnR>
                    <a:lnT w="9525">
                      <a:solidFill>
                        <a:srgbClr val="DAE3E4"/>
                      </a:solidFill>
                      <a:prstDash val="solid"/>
                    </a:lnT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E9F1E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Частичный переход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T w="9525">
                      <a:solidFill>
                        <a:srgbClr val="DAE3E4"/>
                      </a:solidFill>
                      <a:prstDash val="solid"/>
                    </a:lnT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E9F1E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Полный переход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T w="9525">
                      <a:solidFill>
                        <a:srgbClr val="DAE3E4"/>
                      </a:solidFill>
                      <a:prstDash val="solid"/>
                    </a:lnT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E9F1EF"/>
                    </a:solidFill>
                  </a:tcPr>
                </a:tc>
              </a:tr>
              <a:tr h="952500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Только стадия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3E4"/>
                      </a:solidFill>
                      <a:prstDash val="solid"/>
                    </a:lnL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+0,32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[+0,20; +0,43]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+0,31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[+0,23; +0,39]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Медиа и узнаваемость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3E4"/>
                      </a:solidFill>
                      <a:prstDash val="solid"/>
                    </a:lnL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+0,30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[+0,20; +0,41]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+0,30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[+0,22; +0,38]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Также гарантии, контроль, участие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3E4"/>
                      </a:solidFill>
                      <a:prstDash val="solid"/>
                    </a:lnL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+0,07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[-0,01; +0,16]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-0,16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[-0,23; -0,10]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18079-3FDA-4487-9332-288C2BFC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400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После учёта условий преимущество полного перехода исчезает. Это условная связь, чувствительная к разметке координат.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0BCD3-F5F4-4E80-9A51-F0A47DA0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62825"/>
            <a:ext cx="1400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Гарантии и контроль входят и в описание общества, и в оценку благополучия. Таблица не измеряет последствия самого перехода.</a:t>
            </a:r>
          </a:p>
        </p:txBody>
      </p:sp>
    </p:spTree>
    <p:extLst>
      <p:ext uri="{BB962C8B-B14F-4D97-AF65-F5344CB8AC3E}">
        <p14:creationId xmlns:p14="http://schemas.microsoft.com/office/powerpoint/2010/main" val="838196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E9475-6EEF-4B73-8D37-AED24283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Узнаваемость почти не различает три стадии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95A51-C203-46D3-9842-AFE5D6B5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Показаны средние редакторские оценки популярности с равным весом групп внутри стадии.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E591E-B0A2-4618-A09F-D09BFDA6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37669-2F4F-435E-8FA9-DFCA2085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3D3925A-BF87-4625-9AD3-A4486C2C3D12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9525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2b0841f2d3467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5E5A3-5003-43D8-9024-31D91061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24125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defPPr>
            <a:lvl1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1pPr>
            <a:lvl2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2pPr>
            <a:lvl3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3pPr>
            <a:lvl4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4pPr>
            <a:lvl5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5pPr>
            <a:lvl6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6pPr>
            <a:lvl7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7pPr>
            <a:lvl8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8pPr>
            <a:lvl9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6874B5"/>
                </a:solidFill>
                <a:latin typeface="Arial"/>
                <a:ea typeface="Arial"/>
                <a:cs typeface="Arial"/>
              </a:rPr>
              <a:t>≈0,5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1338F-878E-4326-B03A-DD151CD6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48050"/>
            <a:ext cx="3476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средняя узнаваемость у каждой стадии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02D9D-E147-47B4-B7FD-565593D5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95875"/>
            <a:ext cx="3476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Одинаковый балл наследуют все общества одной группы.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A413C-B991-457D-8BE0-A9F1476E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48500"/>
            <a:ext cx="1400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После поправки на медиа различия неубедительны. Для исторической популярности нужен временной ряд аудитории.</a:t>
            </a:r>
          </a:p>
        </p:txBody>
      </p:sp>
    </p:spTree>
    <p:extLst>
      <p:ext uri="{BB962C8B-B14F-4D97-AF65-F5344CB8AC3E}">
        <p14:creationId xmlns:p14="http://schemas.microsoft.com/office/powerpoint/2010/main" val="1738929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0C834-5921-4DB8-92B4-ABC8DEA3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Каждая стадия допускает противоположные исходы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AD39B-208C-4A8F-AFA5-6558FC87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Сопоставимые статусы могут сочетаться с принуждением, свободным выбором или исключением части населения.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5AEB2-1C22-48E1-AEAD-FA4418B8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353FB-F177-406E-BE6A-CA2069F7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F790D60-9579-4674-8F18-68632FB22C7F}"/>
              </a:ext>
            </a:extLst>
          </p:cNvPr>
          <p:cNvGraphicFramePr/>
          <p:nvPr/>
        </p:nvGraphicFramePr>
        <p:xfrm>
          <a:off xmlns:a="http://schemas.openxmlformats.org/drawingml/2006/main" x="619125" y="2114550"/>
          <a:ext xmlns:a="http://schemas.openxmlformats.org/drawingml/2006/main" cx="14001750" cy="4714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ecbbb3fb7c455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6D08E-9D2F-4BA5-9C0C-8DC429C5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8662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Для нового исследования полезно отдельно разметить свободу выхода, принуждение и охват гарантий, независимо от U.</a:t>
            </a:r>
          </a:p>
        </p:txBody>
      </p:sp>
    </p:spTree>
    <p:extLst>
      <p:ext uri="{BB962C8B-B14F-4D97-AF65-F5344CB8AC3E}">
        <p14:creationId xmlns:p14="http://schemas.microsoft.com/office/powerpoint/2010/main" val="1706467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2026-10-22T12:44:07.2600000Z</dcterms:created>
  <dcterms:modified xsi:type="dcterms:W3CDTF">2026-10-22T12:44:07.2600000Z</dcterms:modified>
</coreProperties>
</file>